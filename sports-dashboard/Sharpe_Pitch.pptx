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7200" b="0">
                <a:solidFill>
                  <a:srgbClr val="FFFFFF"/>
                </a:solidFill>
                <a:latin typeface="Inter"/>
              </a:defRPr>
            </a:pPr>
            <a:r>
              <a:t>SHARPE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400" b="0">
                <a:solidFill>
                  <a:srgbClr val="A3A3A3"/>
                </a:solidFill>
                <a:latin typeface="Inter"/>
              </a:defRPr>
            </a:pPr>
            <a:r>
              <a:t>Sports Market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defRPr sz="1400" b="0">
                <a:solidFill>
                  <a:srgbClr val="A3A3A3"/>
                </a:solidFill>
                <a:latin typeface="Inter"/>
              </a:defRPr>
            </a:pPr>
            <a:r>
              <a:t>Find mispriced bets before the market corrects.</a:t>
            </a:r>
            <a:br/>
            <a:r>
              <a:t>Real-time comparison of bookmaker odds, Polymarket, and Kalshi.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5303520"/>
            <a:ext cx="3200400" cy="0"/>
          </a:xfrm>
          <a:prstGeom prst="line">
            <a:avLst/>
          </a:prstGeom>
          <a:ln w="6350">
            <a:solidFill>
              <a:srgbClr val="A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A3A3A3"/>
                </a:solidFill>
                <a:latin typeface="Inter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A3A3A3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200"/>
              </a:lnSpc>
              <a:defRPr sz="4000" b="0">
                <a:solidFill>
                  <a:srgbClr val="1A1A1A"/>
                </a:solidFill>
                <a:latin typeface="Inter"/>
              </a:defRPr>
            </a:pPr>
            <a:r>
              <a:t>Billions left on the table.</a:t>
            </a:r>
            <a:br/>
            <a:r>
              <a:t>Bookmaker odds and prediction</a:t>
            </a:r>
            <a:br/>
            <a:r>
              <a:t>markets rarely talk to each other.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3840480"/>
            <a:ext cx="9418320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71600" y="420624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400" b="0">
                <a:solidFill>
                  <a:srgbClr val="1A1A1A"/>
                </a:solidFill>
                <a:latin typeface="Inter"/>
              </a:defRPr>
            </a:pPr>
            <a:r>
              <a:t>$100B+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A3A3A3"/>
                </a:solidFill>
                <a:latin typeface="Inter"/>
              </a:defRPr>
            </a:pPr>
            <a:r>
              <a:t>Global online gambling market</a:t>
            </a:r>
            <a:br/>
            <a:r>
              <a:t>with systemic pricing inefficiencies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20624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400" b="0">
                <a:solidFill>
                  <a:srgbClr val="1A1A1A"/>
                </a:solidFill>
                <a:latin typeface="Inter"/>
              </a:defRPr>
            </a:pPr>
            <a:r>
              <a:t>Fragmented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0292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A3A3A3"/>
                </a:solidFill>
                <a:latin typeface="Inter"/>
              </a:defRPr>
            </a:pPr>
            <a:r>
              <a:t>Existing tools are basic converters,</a:t>
            </a:r>
            <a:br/>
            <a:r>
              <a:t>not real-time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20624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400" b="0">
                <a:solidFill>
                  <a:srgbClr val="1A1A1A"/>
                </a:solidFill>
                <a:latin typeface="Inter"/>
              </a:defRPr>
            </a:pPr>
            <a:r>
              <a:t>4-10%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0292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A3A3A3"/>
                </a:solidFill>
                <a:latin typeface="Inter"/>
              </a:defRPr>
            </a:pPr>
            <a:r>
              <a:t>Bookmaker vig creates structural</a:t>
            </a:r>
            <a:br/>
            <a:r>
              <a:t>pricing gaps vs. prediction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A3A3A3"/>
                </a:solidFill>
                <a:latin typeface="Inter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200"/>
              </a:lnSpc>
              <a:defRPr sz="4000" b="0">
                <a:solidFill>
                  <a:srgbClr val="1A1A1A"/>
                </a:solidFill>
                <a:latin typeface="Inter"/>
              </a:defRPr>
            </a:pPr>
            <a:r>
              <a:t>One dashboard.</a:t>
            </a:r>
            <a:br/>
            <a:r>
              <a:t>Three price sources.</a:t>
            </a:r>
            <a:br/>
            <a:r>
              <a:t>Every edge visible.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3657600"/>
            <a:ext cx="9418320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71600" y="40233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400"/>
              </a:lnSpc>
              <a:defRPr sz="1500" b="0">
                <a:solidFill>
                  <a:srgbClr val="A3A3A3"/>
                </a:solidFill>
                <a:latin typeface="Inter"/>
              </a:defRPr>
            </a:pPr>
            <a:r>
              <a:t>Sharpe scans bookmaker odds, Polymarket, and Kalshi in real time to surface</a:t>
            </a:r>
            <a:br/>
            <a:r>
              <a:t>pricing divergences and arbitrage opportunities across 25+ sports and esports.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212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1A1A1A"/>
                </a:solidFill>
                <a:latin typeface="Inter"/>
              </a:defRPr>
            </a:pPr>
            <a:r>
              <a:t>BOOKMAKERS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5778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Aggregated odds from</a:t>
            </a:r>
            <a:br/>
            <a:r>
              <a:t>top sportsbooks worldwide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502920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5212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1A1A1A"/>
                </a:solidFill>
                <a:latin typeface="Inter"/>
              </a:defRPr>
            </a:pPr>
            <a:r>
              <a:t>POLYMARKET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5778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Decentralized prediction</a:t>
            </a:r>
            <a:br/>
            <a:r>
              <a:t>market pricing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502920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5212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1A1A1A"/>
                </a:solidFill>
                <a:latin typeface="Inter"/>
              </a:defRPr>
            </a:pPr>
            <a:r>
              <a:t>KALSHI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5778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1,100+ regulated</a:t>
            </a:r>
            <a:br/>
            <a:r>
              <a:t>event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A3A3A3"/>
                </a:solidFill>
                <a:latin typeface="Inter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000" b="0">
                <a:solidFill>
                  <a:srgbClr val="1A1A1A"/>
                </a:solidFill>
                <a:latin typeface="Inter"/>
              </a:defRPr>
            </a:pPr>
            <a:r>
              <a:t>From data to edge in seconds.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1A1A1A"/>
                </a:solidFill>
                <a:latin typeface="Inter"/>
              </a:defRPr>
            </a:pPr>
            <a:r>
              <a:t>AGGREGATE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Scan odds from top bookmakers</a:t>
            </a:r>
            <a:br/>
            <a:r>
              <a:t>worldwide via The Odds API.</a:t>
            </a:r>
            <a:br/>
            <a:r>
              <a:t>Cover 25+ sports leagues.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7432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E5E5E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743200"/>
            <a:ext cx="4572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474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1A1A1A"/>
                </a:solidFill>
                <a:latin typeface="Inter"/>
              </a:defRPr>
            </a:pPr>
            <a: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84048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Pull real-time prices from</a:t>
            </a:r>
            <a:br/>
            <a:r>
              <a:t>Polymarket and Kalshi.</a:t>
            </a:r>
            <a:br/>
            <a:r>
              <a:t>1,100+ active markets.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7432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E5E5E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743200"/>
            <a:ext cx="4572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1A1A1A"/>
                </a:solidFill>
                <a:latin typeface="Inter"/>
              </a:defRPr>
            </a:pPr>
            <a:r>
              <a:t>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Kelly Criterion sizing and</a:t>
            </a:r>
            <a:br/>
            <a:r>
              <a:t>divergence analysis surface</a:t>
            </a:r>
            <a:br/>
            <a:r>
              <a:t>mispriced opportunities.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7432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E5E5E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2743200"/>
            <a:ext cx="4572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3474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1A1A1A"/>
                </a:solidFill>
                <a:latin typeface="Inter"/>
              </a:defRPr>
            </a:pPr>
            <a: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384048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Confidence scoring, alerts,</a:t>
            </a:r>
            <a:br/>
            <a:r>
              <a:t>and direct links to trade</a:t>
            </a:r>
            <a:br/>
            <a:r>
              <a:t>on each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A3A3A3"/>
                </a:solidFill>
                <a:latin typeface="Inter"/>
              </a:defRPr>
            </a:pPr>
            <a: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000" b="0">
                <a:solidFill>
                  <a:srgbClr val="1A1A1A"/>
                </a:solidFill>
                <a:latin typeface="Inter"/>
              </a:defRPr>
            </a:pPr>
            <a:r>
              <a:t>25+ leagues. Every major market.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0">
                <a:solidFill>
                  <a:srgbClr val="A3A3A3"/>
                </a:solidFill>
                <a:latin typeface="Inter"/>
              </a:defRPr>
            </a:pPr>
            <a:r>
              <a:t>US SPORTS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3108960"/>
            <a:ext cx="2743200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3291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NBA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7588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NFL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599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NHL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4398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MLB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280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NCAAF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212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MLS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96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Boxing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0">
                <a:solidFill>
                  <a:srgbClr val="A3A3A3"/>
                </a:solidFill>
                <a:latin typeface="Inter"/>
              </a:defRPr>
            </a:pPr>
            <a:r>
              <a:t>EUROPEAN FOOTBALL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108960"/>
            <a:ext cx="2743200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0" y="3291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EPL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7588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La Liga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599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Bundesliga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4398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Serie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280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Ligue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212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Champions League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596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Europa League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0">
                <a:solidFill>
                  <a:srgbClr val="A3A3A3"/>
                </a:solidFill>
                <a:latin typeface="Inter"/>
              </a:defRPr>
            </a:pPr>
            <a:r>
              <a:t>OTHER / ESPORTS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0" y="3108960"/>
            <a:ext cx="2743200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0" y="3291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Tennis ATP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67588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Tennis WTA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0599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Formula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44398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LoL (LCK/LPL/LEC)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8280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CS2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212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Valorant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5961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1A1A1A"/>
                </a:solidFill>
                <a:latin typeface="Inter"/>
              </a:defRPr>
            </a:pPr>
            <a:r>
              <a:t>Dota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A3A3A3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000" b="0">
                <a:solidFill>
                  <a:srgbClr val="1A1A1A"/>
                </a:solidFill>
                <a:latin typeface="Inter"/>
              </a:defRPr>
            </a:pPr>
            <a:r>
              <a:t>Built for serious bettors.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1">
                <a:solidFill>
                  <a:srgbClr val="1A1A1A"/>
                </a:solidFill>
                <a:latin typeface="Inter"/>
              </a:defRPr>
            </a:pPr>
            <a:r>
              <a:t>THREE-SOURCE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3375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Real-time prices from bookmakers,</a:t>
            </a:r>
            <a:br/>
            <a:r>
              <a:t>Polymarket, and Kalshi side by 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7432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1">
                <a:solidFill>
                  <a:srgbClr val="1A1A1A"/>
                </a:solidFill>
                <a:latin typeface="Inter"/>
              </a:defRPr>
            </a:pPr>
            <a:r>
              <a:t>DIVERGENCE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3375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Confidence-scored signals when</a:t>
            </a:r>
            <a:br/>
            <a:r>
              <a:t>pricing gaps exceed your threshold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7432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971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1">
                <a:solidFill>
                  <a:srgbClr val="1A1A1A"/>
                </a:solidFill>
                <a:latin typeface="Inter"/>
              </a:defRPr>
            </a:pPr>
            <a:r>
              <a:t>PLAYER PROPS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3375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NBA points, assists, rebounds,</a:t>
            </a:r>
            <a:br/>
            <a:r>
              <a:t>3-pointers from Kalshi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800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1">
                <a:solidFill>
                  <a:srgbClr val="1A1A1A"/>
                </a:solidFill>
                <a:latin typeface="Inter"/>
              </a:defRPr>
            </a:pPr>
            <a:r>
              <a:t>FUTURES &amp; AWARDS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166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MVP, ROY, Heisman, league</a:t>
            </a:r>
            <a:br/>
            <a:r>
              <a:t>winners across all sports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5720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800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1">
                <a:solidFill>
                  <a:srgbClr val="1A1A1A"/>
                </a:solidFill>
                <a:latin typeface="Inter"/>
              </a:defRPr>
            </a:pPr>
            <a:r>
              <a:t>PROFIT 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166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Log trades, track P&amp;L, measure</a:t>
            </a:r>
            <a:br/>
            <a:r>
              <a:t>your edge over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5720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800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1">
                <a:solidFill>
                  <a:srgbClr val="1A1A1A"/>
                </a:solidFill>
                <a:latin typeface="Inter"/>
              </a:defRPr>
            </a:pPr>
            <a:r>
              <a:t>WATCHLIST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166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Inter"/>
              </a:defRPr>
            </a:pPr>
            <a:r>
              <a:t>Save markets and get notified</a:t>
            </a:r>
            <a:br/>
            <a:r>
              <a:t>when edges appear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A3A3A3"/>
                </a:solidFill>
                <a:latin typeface="Inter"/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200"/>
              </a:lnSpc>
              <a:defRPr sz="4000" b="0">
                <a:solidFill>
                  <a:srgbClr val="FFFFFF"/>
                </a:solidFill>
                <a:latin typeface="Inter"/>
              </a:defRPr>
            </a:pPr>
            <a:r>
              <a:t>Two massive markets.</a:t>
            </a:r>
            <a:br/>
            <a:r>
              <a:t>No real-time intelligence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800" b="0">
                <a:solidFill>
                  <a:srgbClr val="FFFFFF"/>
                </a:solidFill>
                <a:latin typeface="Inter"/>
              </a:defRPr>
            </a:pPr>
            <a:r>
              <a:t>$100B+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A3A3A3"/>
                </a:solidFill>
                <a:latin typeface="Inter"/>
              </a:defRPr>
            </a:pPr>
            <a:r>
              <a:t>Global online</a:t>
            </a:r>
            <a:br/>
            <a:r>
              <a:t>gambling market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40" y="3657600"/>
            <a:ext cx="0" cy="137160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31920" y="36576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800" b="0">
                <a:solidFill>
                  <a:srgbClr val="FFFFFF"/>
                </a:solidFill>
                <a:latin typeface="Inter"/>
              </a:defRPr>
            </a:pPr>
            <a:r>
              <a:t>$25B+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4805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A3A3A3"/>
                </a:solidFill>
                <a:latin typeface="Inter"/>
              </a:defRPr>
            </a:pPr>
            <a:r>
              <a:t>Polymarket cumulative</a:t>
            </a:r>
            <a:br/>
            <a:r>
              <a:t>trading volume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09360" y="3657600"/>
            <a:ext cx="0" cy="137160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92240" y="36576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800" b="0">
                <a:solidFill>
                  <a:srgbClr val="FFFFFF"/>
                </a:solidFill>
                <a:latin typeface="Inter"/>
              </a:defRPr>
            </a:pPr>
            <a:r>
              <a:t>$24B+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4805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A3A3A3"/>
                </a:solidFill>
                <a:latin typeface="Inter"/>
              </a:defRPr>
            </a:pPr>
            <a:r>
              <a:t>Kalshi 2025</a:t>
            </a:r>
            <a:br/>
            <a:r>
              <a:t>trading volume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69680" y="3657600"/>
            <a:ext cx="0" cy="137160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52559" y="36576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800" b="0">
                <a:solidFill>
                  <a:srgbClr val="FFFFFF"/>
                </a:solidFill>
                <a:latin typeface="Inter"/>
              </a:defRPr>
            </a:pPr>
            <a:r>
              <a:t>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4805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A3A3A3"/>
                </a:solidFill>
                <a:latin typeface="Inter"/>
              </a:defRPr>
            </a:pPr>
            <a:r>
              <a:t>Purpose-built real-time</a:t>
            </a:r>
            <a:br/>
            <a:r>
              <a:t>intelligence dashboards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A3A3A3"/>
                </a:solidFill>
                <a:latin typeface="Inter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000" b="0">
                <a:solidFill>
                  <a:srgbClr val="1A1A1A"/>
                </a:solidFill>
                <a:latin typeface="Inter"/>
              </a:defRPr>
            </a:pPr>
            <a:r>
              <a:t>Freemium with clear upgrade path.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45720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A3A3A3"/>
                </a:solidFill>
                <a:latin typeface="Inter"/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918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3600" b="0">
                <a:solidFill>
                  <a:srgbClr val="1A1A1A"/>
                </a:solidFill>
                <a:latin typeface="Inter"/>
              </a:defRPr>
            </a:pPr>
            <a: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474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t>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114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A3A3A3"/>
                </a:solidFill>
                <a:latin typeface="Inter"/>
              </a:defRPr>
            </a:pPr>
            <a:r>
              <a:t>4 major US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4988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A3A3A3"/>
                </a:solidFill>
                <a:latin typeface="Inter"/>
              </a:defRPr>
            </a:pPr>
            <a:r>
              <a:t>Basic divergence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88289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A3A3A3"/>
                </a:solidFill>
                <a:latin typeface="Inter"/>
              </a:defRPr>
            </a:pPr>
            <a:r>
              <a:t>3 cards visible per 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26694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A3A3A3"/>
                </a:solidFill>
                <a:latin typeface="Inter"/>
              </a:defRPr>
            </a:pPr>
            <a:r>
              <a:t>Community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457200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A3A3A3"/>
                </a:solidFill>
                <a:latin typeface="Inter"/>
              </a:defRPr>
            </a:pPr>
            <a: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3600" b="0">
                <a:solidFill>
                  <a:srgbClr val="FFFFFF"/>
                </a:solidFill>
                <a:latin typeface="Inter"/>
              </a:defRPr>
            </a:pPr>
            <a:r>
              <a:t>$19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74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A3A3A3"/>
                </a:solidFill>
                <a:latin typeface="Inter"/>
              </a:defRPr>
            </a:pPr>
            <a:r>
              <a:t>/month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CCCCCC"/>
                </a:solidFill>
                <a:latin typeface="Inter"/>
              </a:defRPr>
            </a:pPr>
            <a:r>
              <a:t>25+ sports and esports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988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CCCCCC"/>
                </a:solidFill>
                <a:latin typeface="Inter"/>
              </a:defRPr>
            </a:pPr>
            <a:r>
              <a:t>All data points and intel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8289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CCCCCC"/>
                </a:solidFill>
                <a:latin typeface="Inter"/>
              </a:defRPr>
            </a:pPr>
            <a:r>
              <a:t>Unlimited market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6694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CCCCCC"/>
                </a:solidFill>
                <a:latin typeface="Inter"/>
              </a:defRPr>
            </a:pPr>
            <a:r>
              <a:t>Divergence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65099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CCCCCC"/>
                </a:solidFill>
                <a:latin typeface="Inter"/>
              </a:defRPr>
            </a:pPr>
            <a:r>
              <a:t>Profit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035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CCCCCC"/>
                </a:solidFill>
                <a:latin typeface="Inter"/>
              </a:defRPr>
            </a:pPr>
            <a:r>
              <a:t>Priority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A3A3A3"/>
                </a:solidFill>
                <a:latin typeface="Inter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000" b="0">
                <a:solidFill>
                  <a:srgbClr val="1A1A1A"/>
                </a:solidFill>
                <a:latin typeface="Inter"/>
              </a:defRPr>
            </a:pPr>
            <a:r>
              <a:t>Lean architecture. Fast iteration.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0">
                <a:solidFill>
                  <a:srgbClr val="A3A3A3"/>
                </a:solidFill>
                <a:latin typeface="Inter"/>
              </a:defRPr>
            </a:pPr>
            <a:r>
              <a:t>BACKEND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3063240"/>
            <a:ext cx="4114800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32004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1A1A1A"/>
                </a:solidFill>
                <a:latin typeface="Inter"/>
              </a:defRPr>
            </a:pPr>
            <a:r>
              <a:t>Single-file Python (FastAPI + Uvicorn)</a:t>
            </a:r>
            <a:br/>
            <a:r>
              <a:t>Real-time WebSocket push to all clients</a:t>
            </a:r>
            <a:br/>
            <a:r>
              <a:t>Async parallel API fetching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0">
                <a:solidFill>
                  <a:srgbClr val="A3A3A3"/>
                </a:solidFill>
                <a:latin typeface="Inter"/>
              </a:defRPr>
            </a:pPr>
            <a:r>
              <a:t>DATA 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3063240"/>
            <a:ext cx="4114800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0" y="32004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1A1A1A"/>
                </a:solidFill>
                <a:latin typeface="Inter"/>
              </a:defRPr>
            </a:pPr>
            <a:r>
              <a:t>The Odds API — bookmaker odds</a:t>
            </a:r>
            <a:br/>
            <a:r>
              <a:t>Polymarket Gamma API — prediction markets</a:t>
            </a:r>
            <a:br/>
            <a:r>
              <a:t>Kalshi Trade API — 34 series, 1,100+ markets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0">
                <a:solidFill>
                  <a:srgbClr val="A3A3A3"/>
                </a:solidFill>
                <a:latin typeface="Inter"/>
              </a:defRPr>
            </a:pPr>
            <a:r>
              <a:t>INFRASTRUCTURE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4892040"/>
            <a:ext cx="4114800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71600" y="50292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1A1A1A"/>
                </a:solidFill>
                <a:latin typeface="Inter"/>
              </a:defRPr>
            </a:pPr>
            <a:r>
              <a:t>Ubuntu server deployment</a:t>
            </a:r>
            <a:br/>
            <a:r>
              <a:t>Cloudflare Tunnels for HTTPS</a:t>
            </a:r>
            <a:br/>
            <a:r>
              <a:t>SQLite user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000" b="0">
                <a:solidFill>
                  <a:srgbClr val="A3A3A3"/>
                </a:solidFill>
                <a:latin typeface="Inter"/>
              </a:defRPr>
            </a:pPr>
            <a:r>
              <a:t>FRONTEND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4892040"/>
            <a:ext cx="4114800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50292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defRPr sz="1300" b="0">
                <a:solidFill>
                  <a:srgbClr val="1A1A1A"/>
                </a:solidFill>
                <a:latin typeface="Inter"/>
              </a:defRPr>
            </a:pPr>
            <a:r>
              <a:t>Vanilla JS — zero dependencies</a:t>
            </a:r>
            <a:br/>
            <a:r>
              <a:t>Minimalist responsive design</a:t>
            </a:r>
            <a:br/>
            <a:r>
              <a:t>Live updates, no page refreshes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7200" b="0">
                <a:solidFill>
                  <a:srgbClr val="FFFFFF"/>
                </a:solidFill>
                <a:latin typeface="Inter"/>
              </a:defRPr>
            </a:pPr>
            <a:r>
              <a:t>SHARPE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400" b="0">
                <a:solidFill>
                  <a:srgbClr val="A3A3A3"/>
                </a:solidFill>
                <a:latin typeface="Inter"/>
              </a:defRPr>
            </a:pPr>
            <a:r>
              <a:t>The edge between odds and markets.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4389120"/>
            <a:ext cx="3200400" cy="0"/>
          </a:xfrm>
          <a:prstGeom prst="line">
            <a:avLst/>
          </a:prstGeom>
          <a:ln w="6350">
            <a:solidFill>
              <a:srgbClr val="A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71600" y="475488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00"/>
              </a:lnSpc>
              <a:defRPr sz="1600" b="0">
                <a:solidFill>
                  <a:srgbClr val="A3A3A3"/>
                </a:solidFill>
                <a:latin typeface="Inter"/>
              </a:defRPr>
            </a:pPr>
            <a:r>
              <a:t>Let's talk.</a:t>
            </a:r>
            <a:br/>
            <a:r>
              <a:t>sharpe.app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