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the hook, not the company: 'Right now, on X and Truth Social, politicians, pundits, and anons are publishing predictions that move real regulated markets. Nobody keeps score. We built the machine that does — and it settles every claim against real Polymarket and Kalshi outcomes.' Set the frame immediately: pre-launch by choice, pre-seed; everything in this deck is built, tested, and demo-able today via investor access keys — no signup required. Do not say 'live': the product is launch-ready and wired into the billing gateway, but not yet publicly listed.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gap has three layers. (1) Accountability: public predictions are free options — no one settles them. (2) Analytics: every existing tool analyzes the market itself (prices, wallets, order flow) or aggregates unscored sentiment; none connect authored claims to settled outcomes. (3) Research: every mature asset class grew a research layer — equities got Morningstar, Zacks, Finviz; event markets have none, despite the capital asymmetry ($3.7B into platforms in one year vs ~$91M across the top-20 tooling startups). Prior art proves demand: PunditTracker tried pundit accountability in 2012 and died — pre-LLM (manual curation didn't scale) and pre-liquid-markets (no settlement layer). Both blockers are now gone; that's the Why Now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one concrete example end-to-end. The two magic ingredients: extraction (regex first for free, Claude structured-output only on misses — turns messy natural language into falsifiable, deadline-bearing claims) and settlement (real-money market resolutions are free, objective ground truth — no human graders). The output is two products in one: a signal feed (which claims are mispriced right now) and a credibility ledger (who has receipts). The kicker: the system grades itself — every qualifying signal opens a $1 paper trade, force-settled at market resolution, so our own track record is falsifiable too. Competitors ship vibes; we ship receipts.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points investors should retain. (1) LLM economics: three-tier funnel (regex → Claude → keyword), sha256 content-hash caching, prompt caching at ~0.1x cost on cached reads, model env-swappable to Haiku for ~5x lower cost — marginal LLM cost per post trends toward zero. Label the 3-5x recall claim as an internal benchmark if asked. (2) Anti-gaming: accuracy stays locked until 10 qualifying predictions across 3 categories; predictions &lt;12h before close never count; category over-concentration triggers a dominance penalty — a new account cannot fake a track record. Brier calibration separates a well-calibrated 55% forecaster from an overconfident 95% blowhard; hit-rate is an amateur metric. (3) Matching precision: category gating plus candidate-name gating means 'Trump will win' can never match the Harris market. Diligence honesty: the X source is quota-capped ($100/mo Basic tier, 10K tweets/mo) — scaling coverage scales cost linearly; it's in the use-of-funds.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forces converged in the last 12 months. Volume: Bernstein projects $240B for 2026 and $1T/yr by 2030 — flag as one analyst's projection, not consensus. Regulation: election contracts legalized Oct 2024; Third Circuit held CFTC jurisdiction over sports contracts likely exclusive (Apr 2026); first federal rulebook now in comment period — note honestly that the Third Circuit ruling is a preliminary-injunction decision, several states are fighting back, and a Supreme Court showdown is expected. Capital asymmetry: ICE committed ~$2B to Polymarket (ICE IR / Fortune) and Kalshi raised $1B at $22B (TechCrunch) — while the top-20 analytics startups raised ~$91M combined: a picks-and-shovels gap at maximum volume growth. Distribution: Robinhood traded 12B+ event contracts in 2025 (Robinhood newsroom); Polymarket reportedly hit $1B annualized revenue ~6 weeks after US relaunch (Crypto Briefing — verify before quoting). Validation: ICE launched 'Polymarket Signals and Sentiment' (Feb 2026) selling probability feeds to institutions — and left the retail/prosumer tier unserved. That's our wedge, and the window is before venues build it in-house.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demo slide — ideally switch to the live product here; investor access keys grant instant, scoped, no-signup access. Surfaces to hit: the Performance tab where our own paper-traded P&amp;L lives in public view; the backtest screen where any skeptic can rerun our signal history under their own EV/credibility thresholds; liquidity endpoints that walk the actual Polymarket order book; cross-venue arbitrage with deep links to both venues; and user calibration mode, where users build their own Brier-scored record — which doubles as labeled training data for the extractor. Framing discipline: the product is built and gateway-wired but flagged hidden in the storefront config — say 'launch-ready', never 'live'.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moat is time-based, not feature-based — features can be copied; history cannot. Four tables accumulate every five minutes: every prediction with hours-remaining-at-prediction and resolution outcome; a per-source credibility time series written each recompute cycle; ground-truth resolved markets; and the market price at claim time. Because the inputs are ephemeral, the joint dataset cannot be rebuilt retroactively. The derived asset — a live, methodology-consistent credibility score per social handle — is the defensible product: think FICO or Nielsen, where methodology plus longitudinal data is the business. Anti-gaming rules mean the scores themselves are hard to spoof. This is also the launch-urgency argument: every month pre-launch is unrecoverable data, which is why the raise funds switching the machine on now.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Strategic story: truth.narve.ai is the wedge; the gateway is the leverage. Auth, billing, gating, proxying, live-refresh, and admin ops were built once and amortize across every product. The lifecycle mechanics are proven, not theoretical: stocks+crypto sell as one Market Edge subscription via access-alias; the retired disasters and climate dashboards were folded into weather with 301 redirects while legacy subscribers kept paid access; underperformers get parked, not deleted. Storefront discipline matters: the store is curated to three live products rather than shipping everything — the same judgment that will govern unparking the bench. This converts one pre-seed bet into a portfolio machine: if the wedge wins, the rail multiplies it, and the marginal cost of testing product #16 is near zero.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Vertical-SaaS data products on one shared rail: prosumer subscriptions now, institutional licensing later. Pricing is comparable to retail research tools (Finviz Elite ~$299.50/yr, Stock Rover ~$249/yr — verify list prices before printing). Pro tier differentiates on history depth — 6 months of source tracking, 'where the real credibility signal emerges' — pricing justified by the moat itself. The public API (signals, source scores, backtests, arbitrage) already ships with hashed key management — that's the institutional on-ramp, and ICE's Feb 2026 launch proves institutions pay for prediction-market intelligence. Pre-launch honesty: STRIPE_SETUP.md states plainly that no one can subscribe today because production Stripe env vars aren't set, and calls wiring them 'the fastest revenue unlock' (~30 minutes) — checkout, webhooks, and live-format price IDs for seven products already exist. Housekeeping before any investor demo: normalize the bundle brand ('betyc' → 'narve.ai' in server.py) and commit to the coded $49/$149 bundle prices over the $99/$229 alternative in STRIPE_SETUP.md.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Methodology transparency wins trust here. TAM is the directly comparable third-party category: investment research platforms, framed against the $49.2B market-data spend pool that ICE has proven prediction-market data can tap. SAM is our derivation — say so out loud: 8–12M active event-contract traders by 2029–30 (Bernstein-consistent growth from today's ~2–3M) × serious-trader segment × blended ARPU, plus an institutional feed segment. SOM: 15–50K paying subscribers at ~$350–500/yr plus 3–10 institutional licenses at $50–250K — in line with what niche trading-analytics SaaS (Nansen, Glassnode, Finviz, TrendSpider) reached in comparable trader populations. If pressed on user counts, cite only Polymarket's 678K on-chain figure — Kalshi's 2M MAT is company-reported and third-party estimates conflict; on a slide, prefer 'hundreds of thousands to low millions of monthly traders'. Never present SAM/SOM as third-party figures; always label Bernstein as one analyst's projection.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Anticipate the two hard questions. 'What about Verso?' — closest overlap: it maps anonymous headlines to contracts (impact estimation); we score authored claims and the people who made them, settled against outcomes — who is right, not what moves prices. (Verso specifics are thinly sourced from tool directories — verify against their own site before printing details; the rumored 'Paradigm' and 'Panther' terminals are unverified, omit them.) 'What if the venues build this?' — Kalshi is building a terminal and Polymarket acquired Dome (YC F25 data-API startup) — the biggest long-term threat and the strongest validation, and Dome is proof a seed-stage prediction-market data startup already achieved an exit. Our defenses: venue-neutrality (an exchange will never tell you the other venue has the better price — we compute EV against the best price on either) and the off-market social ledger, which sits outside any venue's data estate. Supporting trend: bots already dominate structural/speed arbitrage on Polymarket — durable edge must come from information, which is exactly what a credibility-weighted claims ledger provides.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replaces the traction slide honestly — zero user or revenue numbers, deliberately; the traction is that one small team built the entire machine. Scope shipped: 15 dashboard SKUs, 2 headless trading bots, and a full auth/billing gateway, each documented; CI with linting and Docker build checks; Cloudflare Tunnel runbooks; a purpose-built investor-key system with scoping, expiry, and audit trails — offer keys in the room and let them try it before the meeting ends. The differentiating credibility asset: the financial-matrix-toolkit's 20 walk-forward, null-benchmarked, after-cost models include a deliberate 'honesty tier' of direction models built to show they fail the efficient-market floor, and its capstone backtest honestly reports no significant Sharpe edge. A founder who refuses to manufacture fake edges is exactly who you want scoring other people's predictions — the anti-hype methodology is the brand, and it underwrites the flagship's Brier and EV math. Known limitations we name before you ask: lexical (not semantic) matching, paper trades entered at midpoint without slippage, single-process SQLite — all documented in-repo, all in the use-of-funds.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Phases, not quarter-precise dates — pre-seed decks that promise dates invite the wrong diligence. Phase 1 is nearly mechanical because the machine exists: wire the Stripe env vars, unhide the truth SKU, start the public leaderboard. Launch-first logic: the ledger moat compounds with calendar time, so every month pre-launch is unrecoverable data. Growth is product-native: unauthenticated SVG credibility cards ('this account is 71% accurate across 40 settled markets — receipts attached') are the viral surface, and the public backtest endpoint lets skeptics verify us — verification is the marketing. Phase 2 spends against the named engineering gaps: X API quota costs scale linearly with coverage, Jaccard matching should become semantic, ledger entries should consume the slippage data the liquidity endpoint already measures. Phase 3 follows ICE's proof that institutions pay for prediction-market signals — /api/v1 with key management already exists, so licensing is packaging, not a rebuild. Bench dashboards unpark only behind demonstrated demand. Deliberately no subscriber or revenue projections: milestones are shippable artifacts, and the KPI to hold us to is ledger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Team: Julian Habbig (CEO, julian@habbig.com) and Sho Cakarel (CTO, sho@cakarel.com). [PLACEHOLDER: one sentence of background per founder — prior companies, domain credibility in markets or ML.] The ask is $50,000 pre-seed. Framing for a small round: this is not build-risk capital — the product, billing rail, tests, and deploy tooling already exist. $50K converts a launch-ready system into a live market position: it covers the X API quota (~$100/mo Basic tier scales with coverage), LLM extraction spend, hosting, and a focused launch push, while the credibility ledger starts compounding — the asset a later entrant cannot rebuild. The use-of-funds split on the slide (~40/35/25) is a draft; adjust to actual budget before sending. What the repo already evidences: execution breadth (every service documented, tested, deployable — including a 3,903-line risk/position-sizing build with Kelly sizing, Black-Scholes Greeks, and circuit breakers), operational maturity (CI, pre-deploy snapshots, production hardening flags, partner onboarding docs), and intellectual honesty as a working style (4-agent adversarial audit that caught a backtest off-by-one; Newey-West/Bonferroni statistical discipline). [PLACEHOLDER: raise amount and terms.] Framing for the close: this is not build-risk capital — product, billing rail, tests, and deploy tooling exist; capital converts a launch-ready system into a market position while the ledger moat compounds. Natural cost lines from the known risk register: X API spend (scales linearly with coverage), scraper resilience, semantic matching, per-tenant pipeline isolation, and launch GTM. Diligence items to have clean answers for: 'betyc' brand leftover, Stripe env vars unset in production, and README growth targets being goals, not traction. Then hand over the investor key and let the product finish the pitch.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 spc="-50">
                <a:solidFill>
                  <a:srgbClr val="0D0D0D"/>
                </a:solidFill>
                <a:latin typeface="Jost"/>
              </a:rPr>
              <a:t>narve.ai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965960"/>
            <a:ext cx="12191695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4200" b="0" i="0" spc="-120">
                <a:solidFill>
                  <a:srgbClr val="0D0D0D"/>
                </a:solidFill>
                <a:latin typeface="Jost"/>
              </a:rPr>
              <a:t>Stop guessing who's right.</a:t>
            </a:r>
          </a:p>
          <a:p>
            <a:pPr algn="ctr">
              <a:lnSpc>
                <a:spcPct val="110000"/>
              </a:lnSpc>
            </a:pPr>
            <a:r>
              <a:rPr sz="4200" b="0" i="0" spc="-120">
                <a:solidFill>
                  <a:srgbClr val="0D0D0D"/>
                </a:solidFill>
                <a:latin typeface="Jost"/>
              </a:rPr>
              <a:t>Start </a:t>
            </a:r>
            <a:r>
              <a:rPr sz="4200" b="0" i="1" spc="-50">
                <a:solidFill>
                  <a:srgbClr val="0D0D0D"/>
                </a:solidFill>
                <a:latin typeface="Lora"/>
              </a:rPr>
              <a:t>knowing.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977639"/>
            <a:ext cx="121916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 i="1" spc="160">
                <a:solidFill>
                  <a:srgbClr val="9A9A9A"/>
                </a:solidFill>
                <a:latin typeface="Lora"/>
              </a:rPr>
              <a:t>prediction intelligence for event markets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4526280"/>
            <a:ext cx="81683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 i="0">
                <a:solidFill>
                  <a:srgbClr val="5A5A5A"/>
                </a:solidFill>
                <a:latin typeface="Jost"/>
              </a:rPr>
              <a:t>We extract public predictions, settle them against real Polymarket &amp; Kalshi markets, and price the edge.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5349240"/>
            <a:ext cx="1219169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0D0D0D"/>
                </a:solidFill>
                <a:latin typeface="Jost"/>
              </a:rPr>
              <a:t>Julian Habbig</a:t>
            </a:r>
            <a:r>
              <a:rPr sz="1200" b="0" i="0">
                <a:solidFill>
                  <a:srgbClr val="5A5A5A"/>
                </a:solidFill>
                <a:latin typeface="Jost"/>
              </a:rPr>
              <a:t> · CEO · julian@habbig.com</a:t>
            </a:r>
            <a:r>
              <a:rPr sz="1200" b="0" i="0">
                <a:solidFill>
                  <a:srgbClr val="5A5A5A"/>
                </a:solidFill>
                <a:latin typeface="Jost"/>
              </a:rPr>
              <a:t>      </a:t>
            </a:r>
            <a:r>
              <a:rPr sz="1200" b="1" i="0">
                <a:solidFill>
                  <a:srgbClr val="0D0D0D"/>
                </a:solidFill>
                <a:latin typeface="Jost"/>
              </a:rPr>
              <a:t>Sho Cakarel</a:t>
            </a:r>
            <a:r>
              <a:rPr sz="1200" b="0" i="0">
                <a:solidFill>
                  <a:srgbClr val="5A5A5A"/>
                </a:solidFill>
                <a:latin typeface="Jost"/>
              </a:rPr>
              <a:t> · CTO · sho@cakarel.com</a:t>
            </a:r>
          </a:p>
          <a:p>
            <a:pPr algn="ctr"/>
            <a:r>
              <a:rPr sz="1100" b="0" i="0">
                <a:solidFill>
                  <a:srgbClr val="9A9A9A"/>
                </a:solidFill>
                <a:latin typeface="Jost"/>
              </a:rPr>
              <a:t>Pre-seed   ·   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1082009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0" i="0" spc="260">
                <a:solidFill>
                  <a:srgbClr val="9A9A9A"/>
                </a:solidFill>
                <a:latin typeface="Jost"/>
              </a:rPr>
              <a:t>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73952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>
                <a:solidFill>
                  <a:srgbClr val="9A9A9A"/>
                </a:solidFill>
                <a:latin typeface="Jost"/>
              </a:rPr>
              <a:t>narve.ai — confidential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74375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A9A9A"/>
                </a:solidFill>
                <a:latin typeface="Jost"/>
              </a:rPr>
              <a:t>02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14400"/>
            <a:ext cx="10820095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3000" b="0" i="0" spc="-50">
                <a:solidFill>
                  <a:srgbClr val="0D0D0D"/>
                </a:solidFill>
                <a:latin typeface="Jost"/>
              </a:rPr>
              <a:t>Nobody keeps score of </a:t>
            </a:r>
            <a:r>
              <a:rPr sz="3000" b="0" i="1" spc="-30">
                <a:solidFill>
                  <a:srgbClr val="0D0D0D"/>
                </a:solidFill>
                <a:latin typeface="Lora"/>
              </a:rPr>
              <a:t>who is right.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011680"/>
            <a:ext cx="612648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1300"/>
              </a:spcAft>
            </a:pPr>
            <a:r>
              <a:rPr sz="1350" b="0" i="0">
                <a:solidFill>
                  <a:srgbClr val="B0B0B0"/>
                </a:solidFill>
                <a:latin typeface="Jost"/>
              </a:rPr>
              <a:t>—  </a:t>
            </a:r>
            <a:r>
              <a:rPr sz="1350" b="1" i="0">
                <a:solidFill>
                  <a:srgbClr val="0D0D0D"/>
                </a:solidFill>
                <a:latin typeface="Jost"/>
              </a:rPr>
              <a:t>Zero accountability. </a:t>
            </a:r>
            <a:r>
              <a:rPr sz="1350" b="0" i="0">
                <a:solidFill>
                  <a:srgbClr val="5A5A5A"/>
                </a:solidFill>
                <a:latin typeface="Jost"/>
              </a:rPr>
              <a:t>Politicians, pundits, and insiders publish market-moving predictions daily. Right gets amplified; wrong gets memory-holed.</a:t>
            </a:r>
          </a:p>
          <a:p>
            <a:pPr>
              <a:lnSpc>
                <a:spcPct val="125000"/>
              </a:lnSpc>
              <a:spcAft>
                <a:spcPts val="1300"/>
              </a:spcAft>
            </a:pPr>
            <a:r>
              <a:rPr sz="1350" b="0" i="0">
                <a:solidFill>
                  <a:srgbClr val="B0B0B0"/>
                </a:solidFill>
                <a:latin typeface="Jost"/>
              </a:rPr>
              <a:t>—  </a:t>
            </a:r>
            <a:r>
              <a:rPr sz="1350" b="1" i="0">
                <a:solidFill>
                  <a:srgbClr val="0D0D0D"/>
                </a:solidFill>
                <a:latin typeface="Jost"/>
              </a:rPr>
              <a:t>Markets price outcomes, never people. </a:t>
            </a:r>
            <a:r>
              <a:rPr sz="1350" b="0" i="0">
                <a:solidFill>
                  <a:srgbClr val="5A5A5A"/>
                </a:solidFill>
                <a:latin typeface="Jost"/>
              </a:rPr>
              <a:t>Prediction markets just hit ~$24B/month (Apr 2026 — Pew Research).</a:t>
            </a:r>
          </a:p>
          <a:p>
            <a:pPr>
              <a:lnSpc>
                <a:spcPct val="125000"/>
              </a:lnSpc>
              <a:spcAft>
                <a:spcPts val="1300"/>
              </a:spcAft>
            </a:pPr>
            <a:r>
              <a:rPr sz="1350" b="0" i="0">
                <a:solidFill>
                  <a:srgbClr val="B0B0B0"/>
                </a:solidFill>
                <a:latin typeface="Jost"/>
              </a:rPr>
              <a:t>—  </a:t>
            </a:r>
            <a:r>
              <a:rPr sz="1350" b="1" i="0">
                <a:solidFill>
                  <a:srgbClr val="0D0D0D"/>
                </a:solidFill>
                <a:latin typeface="Jost"/>
              </a:rPr>
              <a:t>Sentiment tools count crowd volume. </a:t>
            </a:r>
            <a:r>
              <a:rPr sz="1350" b="0" i="0">
                <a:solidFill>
                  <a:srgbClr val="5A5A5A"/>
                </a:solidFill>
                <a:latin typeface="Jost"/>
              </a:rPr>
              <a:t>A serially wrong loudmouth weighs the same as a proven forecaster.</a:t>
            </a:r>
          </a:p>
          <a:p>
            <a:pPr>
              <a:lnSpc>
                <a:spcPct val="125000"/>
              </a:lnSpc>
              <a:spcAft>
                <a:spcPts val="1300"/>
              </a:spcAft>
            </a:pPr>
            <a:r>
              <a:rPr sz="1350" b="0" i="0">
                <a:solidFill>
                  <a:srgbClr val="B0B0B0"/>
                </a:solidFill>
                <a:latin typeface="Jost"/>
              </a:rPr>
              <a:t>—  </a:t>
            </a:r>
            <a:r>
              <a:rPr sz="1350" b="1" i="0">
                <a:solidFill>
                  <a:srgbClr val="0D0D0D"/>
                </a:solidFill>
                <a:latin typeface="Jost"/>
              </a:rPr>
              <a:t>Execution without research. </a:t>
            </a:r>
            <a:r>
              <a:rPr sz="1350" b="0" i="0">
                <a:solidFill>
                  <a:srgbClr val="5A5A5A"/>
                </a:solidFill>
                <a:latin typeface="Jost"/>
              </a:rPr>
              <a:t>$3.7B went into venues in 2025; ~$91M into tooling (Forbes / Seedtable).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2011680"/>
            <a:ext cx="4160520" cy="14173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34656" y="2176272"/>
            <a:ext cx="3721608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100" b="1" i="0" spc="160">
                <a:solidFill>
                  <a:srgbClr val="9A9A9A"/>
                </a:solidFill>
                <a:latin typeface="Jost"/>
              </a:rPr>
              <a:t>EQUITIES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50" b="0" i="0">
                <a:solidFill>
                  <a:srgbClr val="5A5A5A"/>
                </a:solidFill>
                <a:latin typeface="Jost"/>
              </a:rPr>
              <a:t>✓  </a:t>
            </a:r>
            <a:r>
              <a:rPr sz="1250" b="1" i="0">
                <a:solidFill>
                  <a:srgbClr val="0D0D0D"/>
                </a:solidFill>
                <a:latin typeface="Jost"/>
              </a:rPr>
              <a:t>Execution   </a:t>
            </a:r>
            <a:r>
              <a:rPr sz="1150" b="0" i="0">
                <a:solidFill>
                  <a:srgbClr val="5A5A5A"/>
                </a:solidFill>
                <a:latin typeface="Jost"/>
              </a:rPr>
              <a:t>Schwab, Robinhood, IBKR</a:t>
            </a:r>
          </a:p>
          <a:p>
            <a:pPr>
              <a:lnSpc>
                <a:spcPct val="115000"/>
              </a:lnSpc>
            </a:pPr>
            <a:r>
              <a:rPr sz="1250" b="0" i="0">
                <a:solidFill>
                  <a:srgbClr val="5A5A5A"/>
                </a:solidFill>
                <a:latin typeface="Jost"/>
              </a:rPr>
              <a:t>✓  </a:t>
            </a:r>
            <a:r>
              <a:rPr sz="1250" b="1" i="0">
                <a:solidFill>
                  <a:srgbClr val="0D0D0D"/>
                </a:solidFill>
                <a:latin typeface="Jost"/>
              </a:rPr>
              <a:t>Research   </a:t>
            </a:r>
            <a:r>
              <a:rPr sz="1150" b="0" i="0">
                <a:solidFill>
                  <a:srgbClr val="5A5A5A"/>
                </a:solidFill>
                <a:latin typeface="Jost"/>
              </a:rPr>
              <a:t>Morningstar, Zacks, Finviz…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0" y="3657600"/>
            <a:ext cx="4160520" cy="14173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34656" y="3822192"/>
            <a:ext cx="3721608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100" b="1" i="0" spc="160">
                <a:solidFill>
                  <a:srgbClr val="9A9A9A"/>
                </a:solidFill>
                <a:latin typeface="Jost"/>
              </a:rPr>
              <a:t>EVENT MARKETS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50" b="0" i="0">
                <a:solidFill>
                  <a:srgbClr val="5A5A5A"/>
                </a:solidFill>
                <a:latin typeface="Jost"/>
              </a:rPr>
              <a:t>✓  </a:t>
            </a:r>
            <a:r>
              <a:rPr sz="1250" b="1" i="0">
                <a:solidFill>
                  <a:srgbClr val="0D0D0D"/>
                </a:solidFill>
                <a:latin typeface="Jost"/>
              </a:rPr>
              <a:t>Execution   </a:t>
            </a:r>
            <a:r>
              <a:rPr sz="1150" b="0" i="0">
                <a:solidFill>
                  <a:srgbClr val="5A5A5A"/>
                </a:solidFill>
                <a:latin typeface="Jost"/>
              </a:rPr>
              <a:t>Polymarket, Kalshi, Robinhood</a:t>
            </a:r>
          </a:p>
          <a:p>
            <a:pPr>
              <a:lnSpc>
                <a:spcPct val="115000"/>
              </a:lnSpc>
            </a:pPr>
            <a:r>
              <a:rPr sz="1250" b="1" i="0">
                <a:solidFill>
                  <a:srgbClr val="0D0D0D"/>
                </a:solidFill>
                <a:latin typeface="Jost"/>
              </a:rPr>
              <a:t>✗  </a:t>
            </a:r>
            <a:r>
              <a:rPr sz="1250" b="1" i="0">
                <a:solidFill>
                  <a:srgbClr val="0D0D0D"/>
                </a:solidFill>
                <a:latin typeface="Jost"/>
              </a:rPr>
              <a:t>Research   </a:t>
            </a:r>
            <a:r>
              <a:rPr sz="1300" b="1" i="1">
                <a:solidFill>
                  <a:srgbClr val="0D0D0D"/>
                </a:solidFill>
                <a:latin typeface="Lora"/>
              </a:rPr>
              <a:t>nobody.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1082009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0" i="0" spc="260">
                <a:solidFill>
                  <a:srgbClr val="9A9A9A"/>
                </a:solidFill>
                <a:latin typeface="Jost"/>
              </a:rPr>
              <a:t>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73952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>
                <a:solidFill>
                  <a:srgbClr val="9A9A9A"/>
                </a:solidFill>
                <a:latin typeface="Jost"/>
              </a:rPr>
              <a:t>narve.ai — confidential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74375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A9A9A"/>
                </a:solidFill>
                <a:latin typeface="Jost"/>
              </a:rPr>
              <a:t>03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14400"/>
            <a:ext cx="10820095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2700" b="0" i="0" spc="-50">
                <a:solidFill>
                  <a:srgbClr val="0D0D0D"/>
                </a:solidFill>
                <a:latin typeface="Jost"/>
              </a:rPr>
              <a:t>We turn social media into a </a:t>
            </a:r>
            <a:r>
              <a:rPr sz="2700" b="0" i="1" spc="-30">
                <a:solidFill>
                  <a:srgbClr val="0D0D0D"/>
                </a:solidFill>
                <a:latin typeface="Lora"/>
              </a:rPr>
              <a:t>market-settled credibility ledger.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011680"/>
            <a:ext cx="10820095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350" b="0" i="0">
                <a:solidFill>
                  <a:srgbClr val="B0B0B0"/>
                </a:solidFill>
                <a:latin typeface="Jost"/>
              </a:rPr>
              <a:t>—  </a:t>
            </a:r>
            <a:r>
              <a:rPr sz="1350" b="1" i="0">
                <a:solidFill>
                  <a:srgbClr val="0D0D0D"/>
                </a:solidFill>
                <a:latin typeface="Jost"/>
              </a:rPr>
              <a:t>Extract </a:t>
            </a:r>
            <a:r>
              <a:rPr sz="1350" b="0" i="0">
                <a:solidFill>
                  <a:srgbClr val="5A5A5A"/>
                </a:solidFill>
                <a:latin typeface="Jost"/>
              </a:rPr>
              <a:t>falsifiable predictions from X, TruthSocial, Reddit &amp; RSS every 5 minutes — two-stage regex + Claude pipeline.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350" b="0" i="0">
                <a:solidFill>
                  <a:srgbClr val="B0B0B0"/>
                </a:solidFill>
                <a:latin typeface="Jost"/>
              </a:rPr>
              <a:t>—  </a:t>
            </a:r>
            <a:r>
              <a:rPr sz="1350" b="1" i="0">
                <a:solidFill>
                  <a:srgbClr val="0D0D0D"/>
                </a:solidFill>
                <a:latin typeface="Jost"/>
              </a:rPr>
              <a:t>Match &amp; price </a:t>
            </a:r>
            <a:r>
              <a:rPr sz="1350" b="0" i="0">
                <a:solidFill>
                  <a:srgbClr val="5A5A5A"/>
                </a:solidFill>
                <a:latin typeface="Jost"/>
              </a:rPr>
              <a:t>each claim against live Polymarket/Kalshi markets — best-side EV (BUY YES vs BUY NO) at the live price.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350" b="0" i="0">
                <a:solidFill>
                  <a:srgbClr val="B0B0B0"/>
                </a:solidFill>
                <a:latin typeface="Jost"/>
              </a:rPr>
              <a:t>—  </a:t>
            </a:r>
            <a:r>
              <a:rPr sz="1350" b="1" i="0">
                <a:solidFill>
                  <a:srgbClr val="0D0D0D"/>
                </a:solidFill>
                <a:latin typeface="Jost"/>
              </a:rPr>
              <a:t>Settle &amp; score </a:t>
            </a:r>
            <a:r>
              <a:rPr sz="1350" b="0" i="0">
                <a:solidFill>
                  <a:srgbClr val="5A5A5A"/>
                </a:solidFill>
                <a:latin typeface="Jost"/>
              </a:rPr>
              <a:t>every claim at market resolution — Bayesian accuracy + Brier calibration: a forecaster FICO score per handle.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350" b="0" i="0">
                <a:solidFill>
                  <a:srgbClr val="B0B0B0"/>
                </a:solidFill>
                <a:latin typeface="Jost"/>
              </a:rPr>
              <a:t>—  </a:t>
            </a:r>
            <a:r>
              <a:rPr sz="1350" b="1" i="0">
                <a:solidFill>
                  <a:srgbClr val="0D0D0D"/>
                </a:solidFill>
                <a:latin typeface="Jost"/>
              </a:rPr>
              <a:t>Self-audit: </a:t>
            </a:r>
            <a:r>
              <a:rPr sz="1350" b="0" i="0">
                <a:solidFill>
                  <a:srgbClr val="5A5A5A"/>
                </a:solidFill>
                <a:latin typeface="Jost"/>
              </a:rPr>
              <a:t>$1 paper trade on every qualifying signal — the product ships with its own falsifiable track record.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4434840"/>
            <a:ext cx="2471851" cy="1371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32104" y="4562856"/>
            <a:ext cx="237744" cy="237744"/>
          </a:xfrm>
          <a:prstGeom prst="ellipse">
            <a:avLst/>
          </a:prstGeom>
          <a:solidFill>
            <a:srgbClr val="0D0D0D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F5F5F5"/>
                </a:solidFill>
                <a:latin typeface="Jost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" y="4892040"/>
            <a:ext cx="2179243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250" b="1" i="0">
                <a:solidFill>
                  <a:srgbClr val="0D0D0D"/>
                </a:solidFill>
                <a:latin typeface="Jost"/>
              </a:rPr>
              <a:t>Social post</a:t>
            </a:r>
          </a:p>
          <a:p>
            <a:pPr>
              <a:lnSpc>
                <a:spcPct val="112000"/>
              </a:lnSpc>
            </a:pPr>
            <a:r>
              <a:rPr sz="950" b="0" i="0">
                <a:solidFill>
                  <a:srgbClr val="5A5A5A"/>
                </a:solidFill>
                <a:latin typeface="Jost"/>
              </a:rPr>
              <a:t>"Fed cuts in September, book it." — @macro_anon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37651" y="4992624"/>
            <a:ext cx="3508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9A9A9A"/>
                </a:solidFill>
                <a:latin typeface="Jost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68547" y="4434840"/>
            <a:ext cx="2471851" cy="1371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614851" y="4562856"/>
            <a:ext cx="237744" cy="237744"/>
          </a:xfrm>
          <a:prstGeom prst="ellipse">
            <a:avLst/>
          </a:prstGeom>
          <a:solidFill>
            <a:srgbClr val="0D0D0D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F5F5F5"/>
                </a:solidFill>
                <a:latin typeface="Jost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4851" y="4892040"/>
            <a:ext cx="2179243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250" b="1" i="0">
                <a:solidFill>
                  <a:srgbClr val="0D0D0D"/>
                </a:solidFill>
                <a:latin typeface="Jost"/>
              </a:rPr>
              <a:t>Structured claim</a:t>
            </a:r>
          </a:p>
          <a:p>
            <a:pPr>
              <a:lnSpc>
                <a:spcPct val="112000"/>
              </a:lnSpc>
            </a:pPr>
            <a:r>
              <a:rPr sz="950" b="0" i="0">
                <a:solidFill>
                  <a:srgbClr val="5A5A5A"/>
                </a:solidFill>
                <a:latin typeface="Jost"/>
              </a:rPr>
              <a:t>entity: Fed · direction: cut · deadline: Sep FOMC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20398" y="4992624"/>
            <a:ext cx="3508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9A9A9A"/>
                </a:solidFill>
                <a:latin typeface="Jost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51294" y="4434840"/>
            <a:ext cx="2471851" cy="1371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97598" y="4562856"/>
            <a:ext cx="237744" cy="237744"/>
          </a:xfrm>
          <a:prstGeom prst="ellipse">
            <a:avLst/>
          </a:prstGeom>
          <a:solidFill>
            <a:srgbClr val="0D0D0D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F5F5F5"/>
                </a:solidFill>
                <a:latin typeface="Jost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97598" y="4892040"/>
            <a:ext cx="2179243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250" b="1" i="0">
                <a:solidFill>
                  <a:srgbClr val="0D0D0D"/>
                </a:solidFill>
                <a:latin typeface="Jost"/>
              </a:rPr>
              <a:t>Matched market</a:t>
            </a:r>
          </a:p>
          <a:p>
            <a:pPr>
              <a:lnSpc>
                <a:spcPct val="112000"/>
              </a:lnSpc>
            </a:pPr>
            <a:r>
              <a:rPr sz="950" b="0" i="0">
                <a:solidFill>
                  <a:srgbClr val="5A5A5A"/>
                </a:solidFill>
                <a:latin typeface="Jost"/>
              </a:rPr>
              <a:t>Kalshi 'Fed cut by Sept?' YES 38¢ → BUY YES · EV +0.14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03145" y="4992624"/>
            <a:ext cx="3508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9A9A9A"/>
                </a:solidFill>
                <a:latin typeface="Jost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34041" y="4434840"/>
            <a:ext cx="2471851" cy="1371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180345" y="4562856"/>
            <a:ext cx="237744" cy="237744"/>
          </a:xfrm>
          <a:prstGeom prst="ellipse">
            <a:avLst/>
          </a:prstGeom>
          <a:solidFill>
            <a:srgbClr val="0D0D0D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F5F5F5"/>
                </a:solidFill>
                <a:latin typeface="Jost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0345" y="4892040"/>
            <a:ext cx="2179243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250" b="1" i="0">
                <a:solidFill>
                  <a:srgbClr val="0D0D0D"/>
                </a:solidFill>
                <a:latin typeface="Jost"/>
              </a:rPr>
              <a:t>Settled + scored</a:t>
            </a:r>
          </a:p>
          <a:p>
            <a:pPr>
              <a:lnSpc>
                <a:spcPct val="112000"/>
              </a:lnSpc>
            </a:pPr>
            <a:r>
              <a:rPr sz="950" b="0" i="0">
                <a:solidFill>
                  <a:srgbClr val="5A5A5A"/>
                </a:solidFill>
                <a:latin typeface="Jost"/>
              </a:rPr>
              <a:t>CORRECT · credibility ↑ · +$1.63 paper P&amp;L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0" y="5989320"/>
            <a:ext cx="121916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 i="1" spc="120">
                <a:solidFill>
                  <a:srgbClr val="9A9A9A"/>
                </a:solidFill>
                <a:latin typeface="Lora"/>
              </a:rPr>
              <a:t>claim  →  market  →  settled truth.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1082009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0" i="0" spc="260">
                <a:solidFill>
                  <a:srgbClr val="9A9A9A"/>
                </a:solidFill>
                <a:latin typeface="Jost"/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73952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>
                <a:solidFill>
                  <a:srgbClr val="9A9A9A"/>
                </a:solidFill>
                <a:latin typeface="Jost"/>
              </a:rPr>
              <a:t>narve.ai — confidential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74375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A9A9A"/>
                </a:solidFill>
                <a:latin typeface="Jost"/>
              </a:rPr>
              <a:t>04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14400"/>
            <a:ext cx="10820095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2700" b="0" i="0" spc="-50">
                <a:solidFill>
                  <a:srgbClr val="0D0D0D"/>
                </a:solidFill>
                <a:latin typeface="Jost"/>
              </a:rPr>
              <a:t>An 11-stage pipeline closes the loop everyone else skips: </a:t>
            </a:r>
            <a:r>
              <a:rPr sz="2700" b="0" i="1" spc="-30">
                <a:solidFill>
                  <a:srgbClr val="0D0D0D"/>
                </a:solidFill>
                <a:latin typeface="Lora"/>
              </a:rPr>
              <a:t>claim → settlement.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057400"/>
            <a:ext cx="1589989" cy="6583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0664" y="2057400"/>
            <a:ext cx="1480261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0D0D0D"/>
                </a:solidFill>
                <a:latin typeface="Jost"/>
              </a:rPr>
              <a:t>1  </a:t>
            </a:r>
            <a:r>
              <a:rPr sz="1050" b="1" i="0">
                <a:solidFill>
                  <a:srgbClr val="0D0D0D"/>
                </a:solidFill>
                <a:latin typeface="Jost"/>
              </a:rPr>
              <a:t>Sync markets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45789" y="2249424"/>
            <a:ext cx="316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9A9A9A"/>
                </a:solidFill>
                <a:latin typeface="Jost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31821" y="2057400"/>
            <a:ext cx="1589989" cy="6583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86685" y="2057400"/>
            <a:ext cx="1480261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0D0D0D"/>
                </a:solidFill>
                <a:latin typeface="Jost"/>
              </a:rPr>
              <a:t>2  </a:t>
            </a:r>
            <a:r>
              <a:rPr sz="1050" b="1" i="0">
                <a:solidFill>
                  <a:srgbClr val="0D0D0D"/>
                </a:solidFill>
                <a:latin typeface="Jost"/>
              </a:rPr>
              <a:t>Scrape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91810" y="2249424"/>
            <a:ext cx="316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9A9A9A"/>
                </a:solidFill>
                <a:latin typeface="Jost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7842" y="2057400"/>
            <a:ext cx="1589989" cy="6583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2706" y="2057400"/>
            <a:ext cx="1480261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0D0D0D"/>
                </a:solidFill>
                <a:latin typeface="Jost"/>
              </a:rPr>
              <a:t>3  </a:t>
            </a:r>
            <a:r>
              <a:rPr sz="1050" b="1" i="0">
                <a:solidFill>
                  <a:srgbClr val="0D0D0D"/>
                </a:solidFill>
                <a:latin typeface="Jost"/>
              </a:rPr>
              <a:t>Dedupe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37831" y="2249424"/>
            <a:ext cx="316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9A9A9A"/>
                </a:solidFill>
                <a:latin typeface="Jost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3863" y="2057400"/>
            <a:ext cx="1589989" cy="6583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78727" y="2057400"/>
            <a:ext cx="1480261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0D0D0D"/>
                </a:solidFill>
                <a:latin typeface="Jost"/>
              </a:rPr>
              <a:t>4  </a:t>
            </a:r>
            <a:r>
              <a:rPr sz="1050" b="1" i="0">
                <a:solidFill>
                  <a:srgbClr val="0D0D0D"/>
                </a:solidFill>
                <a:latin typeface="Jost"/>
              </a:rPr>
              <a:t>Extract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83852" y="2249424"/>
            <a:ext cx="316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9A9A9A"/>
                </a:solidFill>
                <a:latin typeface="Jost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69884" y="2057400"/>
            <a:ext cx="1589989" cy="6583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24748" y="2057400"/>
            <a:ext cx="1480261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0D0D0D"/>
                </a:solidFill>
                <a:latin typeface="Jost"/>
              </a:rPr>
              <a:t>5  </a:t>
            </a:r>
            <a:r>
              <a:rPr sz="1050" b="1" i="0">
                <a:solidFill>
                  <a:srgbClr val="0D0D0D"/>
                </a:solidFill>
                <a:latin typeface="Jost"/>
              </a:rPr>
              <a:t>Match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29873" y="2249424"/>
            <a:ext cx="316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9A9A9A"/>
                </a:solidFill>
                <a:latin typeface="Jost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915905" y="2057400"/>
            <a:ext cx="1589989" cy="6583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70769" y="2057400"/>
            <a:ext cx="1480261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0D0D0D"/>
                </a:solidFill>
                <a:latin typeface="Jost"/>
              </a:rPr>
              <a:t>6  </a:t>
            </a:r>
            <a:r>
              <a:rPr sz="1050" b="1" i="0">
                <a:solidFill>
                  <a:srgbClr val="0D0D0D"/>
                </a:solidFill>
                <a:latin typeface="Jost"/>
              </a:rPr>
              <a:t>Resolve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2971800"/>
            <a:ext cx="1587398" cy="6583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0664" y="2971800"/>
            <a:ext cx="147767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0D0D0D"/>
                </a:solidFill>
                <a:latin typeface="Jost"/>
              </a:rPr>
              <a:t>7  </a:t>
            </a:r>
            <a:r>
              <a:rPr sz="1050" b="1" i="0">
                <a:solidFill>
                  <a:srgbClr val="0D0D0D"/>
                </a:solidFill>
                <a:latin typeface="Jost"/>
              </a:rPr>
              <a:t>Score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3198" y="3163824"/>
            <a:ext cx="316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9A9A9A"/>
                </a:solidFill>
                <a:latin typeface="Jost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529230" y="2971800"/>
            <a:ext cx="1587398" cy="6583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584094" y="2971800"/>
            <a:ext cx="147767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0D0D0D"/>
                </a:solidFill>
                <a:latin typeface="Jost"/>
              </a:rPr>
              <a:t>8  </a:t>
            </a:r>
            <a:r>
              <a:rPr sz="1050" b="1" i="0">
                <a:solidFill>
                  <a:srgbClr val="0D0D0D"/>
                </a:solidFill>
                <a:latin typeface="Jost"/>
              </a:rPr>
              <a:t>Signal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86628" y="3163824"/>
            <a:ext cx="316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9A9A9A"/>
                </a:solidFill>
                <a:latin typeface="Jost"/>
              </a:rP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72660" y="2971800"/>
            <a:ext cx="1587398" cy="6583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27524" y="2971800"/>
            <a:ext cx="147767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0D0D0D"/>
                </a:solidFill>
                <a:latin typeface="Jost"/>
              </a:rPr>
              <a:t>9  </a:t>
            </a:r>
            <a:r>
              <a:rPr sz="1050" b="1" i="0">
                <a:solidFill>
                  <a:srgbClr val="0D0D0D"/>
                </a:solidFill>
                <a:latin typeface="Jost"/>
              </a:rPr>
              <a:t>Paper-trade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30058" y="3163824"/>
            <a:ext cx="316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9A9A9A"/>
                </a:solidFill>
                <a:latin typeface="Jost"/>
              </a:rPr>
              <a:t>→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16090" y="2971800"/>
            <a:ext cx="1587398" cy="6583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70954" y="2971800"/>
            <a:ext cx="147767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0D0D0D"/>
                </a:solidFill>
                <a:latin typeface="Jost"/>
              </a:rPr>
              <a:t>10  </a:t>
            </a:r>
            <a:r>
              <a:rPr sz="1050" b="1" i="0">
                <a:solidFill>
                  <a:srgbClr val="0D0D0D"/>
                </a:solidFill>
                <a:latin typeface="Jost"/>
              </a:rPr>
              <a:t>Monitor + alert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3488" y="3163824"/>
            <a:ext cx="316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9A9A9A"/>
                </a:solidFill>
                <a:latin typeface="Jost"/>
              </a:rPr>
              <a:t>→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59520" y="2971800"/>
            <a:ext cx="1587398" cy="6583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114384" y="2971800"/>
            <a:ext cx="147767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0D0D0D"/>
                </a:solidFill>
                <a:latin typeface="Jost"/>
              </a:rPr>
              <a:t>11  </a:t>
            </a:r>
            <a:r>
              <a:rPr sz="1050" b="1" i="0">
                <a:solidFill>
                  <a:srgbClr val="0D0D0D"/>
                </a:solidFill>
                <a:latin typeface="Jost"/>
              </a:rPr>
              <a:t>Backtest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829800" y="2971800"/>
            <a:ext cx="17830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050" b="1" i="0">
                <a:solidFill>
                  <a:srgbClr val="0D0D0D"/>
                </a:solidFill>
                <a:latin typeface="Jost"/>
              </a:rPr>
              <a:t>↺  resolve → score:
</a:t>
            </a:r>
            <a:r>
              <a:rPr sz="1100" b="0" i="1">
                <a:solidFill>
                  <a:srgbClr val="5A5A5A"/>
                </a:solidFill>
                <a:latin typeface="Lora"/>
              </a:rPr>
              <a:t>the accountability loop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" y="4069080"/>
            <a:ext cx="10820095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50" b="0" i="0">
                <a:solidFill>
                  <a:srgbClr val="B0B0B0"/>
                </a:solidFill>
                <a:latin typeface="Jost"/>
              </a:rPr>
              <a:t>—  </a:t>
            </a:r>
            <a:r>
              <a:rPr sz="1350" b="1" i="0">
                <a:solidFill>
                  <a:srgbClr val="0D0D0D"/>
                </a:solidFill>
                <a:latin typeface="Jost"/>
              </a:rPr>
              <a:t>Cost-engineered extraction. </a:t>
            </a:r>
            <a:r>
              <a:rPr sz="1350" b="0" i="0">
                <a:solidFill>
                  <a:srgbClr val="5A5A5A"/>
                </a:solidFill>
                <a:latin typeface="Jost"/>
              </a:rPr>
              <a:t>Free regex first, Claude only on misses, cached by content hash — viral reposts cost $0. LLM stage catches ~3–5x more signal than regex alone (internal benchmark).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50" b="0" i="0">
                <a:solidFill>
                  <a:srgbClr val="B0B0B0"/>
                </a:solidFill>
                <a:latin typeface="Jost"/>
              </a:rPr>
              <a:t>—  </a:t>
            </a:r>
            <a:r>
              <a:rPr sz="1350" b="1" i="0">
                <a:solidFill>
                  <a:srgbClr val="0D0D0D"/>
                </a:solidFill>
                <a:latin typeface="Jost"/>
              </a:rPr>
              <a:t>Credibility is earned, not asserted. </a:t>
            </a:r>
            <a:r>
              <a:rPr sz="1350" b="0" i="0">
                <a:solidFill>
                  <a:srgbClr val="5A5A5A"/>
                </a:solidFill>
                <a:latin typeface="Jost"/>
              </a:rPr>
              <a:t>10-prediction / 3-category unlock, 12-hour anti-freeroll rule, 60-day recency decay, Bayesian smoothing.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50" b="0" i="0">
                <a:solidFill>
                  <a:srgbClr val="B0B0B0"/>
                </a:solidFill>
                <a:latin typeface="Jost"/>
              </a:rPr>
              <a:t>—  </a:t>
            </a:r>
            <a:r>
              <a:rPr sz="1350" b="1" i="0">
                <a:solidFill>
                  <a:srgbClr val="0D0D0D"/>
                </a:solidFill>
                <a:latin typeface="Jost"/>
              </a:rPr>
              <a:t>Liquidity-honest EV. </a:t>
            </a:r>
            <a:r>
              <a:rPr sz="1350" b="0" i="0">
                <a:solidFill>
                  <a:srgbClr val="5A5A5A"/>
                </a:solidFill>
                <a:latin typeface="Jost"/>
              </a:rPr>
              <a:t>Order-book walk shows slippage at $100 / $1k / $10k — the “this edge dies past $X” reality midpoint services hide.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1082009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0" i="0" spc="260">
                <a:solidFill>
                  <a:srgbClr val="9A9A9A"/>
                </a:solidFill>
                <a:latin typeface="Jost"/>
              </a:rPr>
              <a:t>WHY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73952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>
                <a:solidFill>
                  <a:srgbClr val="9A9A9A"/>
                </a:solidFill>
                <a:latin typeface="Jost"/>
              </a:rPr>
              <a:t>narve.ai — confidential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74375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A9A9A"/>
                </a:solidFill>
                <a:latin typeface="Jost"/>
              </a:rPr>
              <a:t>05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14400"/>
            <a:ext cx="10820095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2700" b="0" i="0" spc="-50">
                <a:solidFill>
                  <a:srgbClr val="0D0D0D"/>
                </a:solidFill>
                <a:latin typeface="Jost"/>
              </a:rPr>
              <a:t>The market ~5x'd in seven months; the intelligence layer </a:t>
            </a:r>
            <a:r>
              <a:rPr sz="2700" b="0" i="1" spc="-30">
                <a:solidFill>
                  <a:srgbClr val="0D0D0D"/>
                </a:solidFill>
                <a:latin typeface="Lora"/>
              </a:rPr>
              <a:t>barely exists.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103120"/>
            <a:ext cx="2533573" cy="17373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2286000"/>
            <a:ext cx="2094661" cy="14264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950" b="0" i="0" spc="160">
                <a:solidFill>
                  <a:srgbClr val="9A9A9A"/>
                </a:solidFill>
                <a:latin typeface="Jost"/>
              </a:rPr>
              <a:t>MONTHLY VOLUME</a:t>
            </a:r>
          </a:p>
          <a:p>
            <a:pPr>
              <a:spcAft>
                <a:spcPts val="500"/>
              </a:spcAft>
            </a:pPr>
            <a:r>
              <a:rPr sz="2100" b="0" i="1" spc="-40">
                <a:solidFill>
                  <a:srgbClr val="0D0D0D"/>
                </a:solidFill>
                <a:latin typeface="Fraunces"/>
              </a:rPr>
              <a:t>&lt;$5B → ~$24B</a:t>
            </a:r>
          </a:p>
          <a:p>
            <a:pPr>
              <a:lnSpc>
                <a:spcPct val="115000"/>
              </a:lnSpc>
            </a:pPr>
            <a:r>
              <a:rPr sz="1050" b="0" i="0">
                <a:solidFill>
                  <a:srgbClr val="5A5A5A"/>
                </a:solidFill>
                <a:latin typeface="Jost"/>
              </a:rPr>
              <a:t>Sep 2025 → Apr 2026 — Pew Research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47973" y="2103120"/>
            <a:ext cx="2533573" cy="17373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67429" y="2286000"/>
            <a:ext cx="2094661" cy="14264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950" b="0" i="0" spc="160">
                <a:solidFill>
                  <a:srgbClr val="9A9A9A"/>
                </a:solidFill>
                <a:latin typeface="Jost"/>
              </a:rPr>
              <a:t>FIRST FEDERAL RULEBOOK</a:t>
            </a:r>
          </a:p>
          <a:p>
            <a:pPr>
              <a:spcAft>
                <a:spcPts val="500"/>
              </a:spcAft>
            </a:pPr>
            <a:r>
              <a:rPr sz="2100" b="0" i="1" spc="-40">
                <a:solidFill>
                  <a:srgbClr val="0D0D0D"/>
                </a:solidFill>
                <a:latin typeface="Fraunces"/>
              </a:rPr>
              <a:t>CFTC NPRM</a:t>
            </a:r>
          </a:p>
          <a:p>
            <a:pPr>
              <a:lnSpc>
                <a:spcPct val="115000"/>
              </a:lnSpc>
            </a:pPr>
            <a:r>
              <a:rPr sz="1050" b="0" i="0">
                <a:solidFill>
                  <a:srgbClr val="5A5A5A"/>
                </a:solidFill>
                <a:latin typeface="Jost"/>
              </a:rPr>
              <a:t>Prediction-market rules, Jun 2026 — Federal Register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0146" y="2103120"/>
            <a:ext cx="2533573" cy="17373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9602" y="2286000"/>
            <a:ext cx="2094661" cy="14264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950" b="0" i="0" spc="160">
                <a:solidFill>
                  <a:srgbClr val="9A9A9A"/>
                </a:solidFill>
                <a:latin typeface="Jost"/>
              </a:rPr>
              <a:t>CAPITAL ASYMMETRY</a:t>
            </a:r>
          </a:p>
          <a:p>
            <a:pPr>
              <a:spcAft>
                <a:spcPts val="500"/>
              </a:spcAft>
            </a:pPr>
            <a:r>
              <a:rPr sz="2100" b="0" i="1" spc="-40">
                <a:solidFill>
                  <a:srgbClr val="0D0D0D"/>
                </a:solidFill>
                <a:latin typeface="Fraunces"/>
              </a:rPr>
              <a:t>$3.7B vs $91M</a:t>
            </a:r>
          </a:p>
          <a:p>
            <a:pPr>
              <a:lnSpc>
                <a:spcPct val="115000"/>
              </a:lnSpc>
            </a:pPr>
            <a:r>
              <a:rPr sz="1050" b="0" i="0">
                <a:solidFill>
                  <a:srgbClr val="5A5A5A"/>
                </a:solidFill>
                <a:latin typeface="Jost"/>
              </a:rPr>
              <a:t>Venues vs tooling, 2025 — Forbes / Seedtable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72319" y="2103120"/>
            <a:ext cx="2533573" cy="17373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91775" y="2286000"/>
            <a:ext cx="2094661" cy="14264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950" b="0" i="0" spc="160">
                <a:solidFill>
                  <a:srgbClr val="9A9A9A"/>
                </a:solidFill>
                <a:latin typeface="Jost"/>
              </a:rPr>
              <a:t>LLM INFERENCE COST</a:t>
            </a:r>
          </a:p>
          <a:p>
            <a:pPr>
              <a:spcAft>
                <a:spcPts val="500"/>
              </a:spcAft>
            </a:pPr>
            <a:r>
              <a:rPr sz="2100" b="0" i="1" spc="-40">
                <a:solidFill>
                  <a:srgbClr val="0D0D0D"/>
                </a:solidFill>
                <a:latin typeface="Fraunces"/>
              </a:rPr>
              <a:t>−99.7%</a:t>
            </a:r>
          </a:p>
          <a:p>
            <a:pPr>
              <a:lnSpc>
                <a:spcPct val="115000"/>
              </a:lnSpc>
            </a:pPr>
            <a:r>
              <a:rPr sz="1050" b="0" i="0">
                <a:solidFill>
                  <a:srgbClr val="5A5A5A"/>
                </a:solidFill>
                <a:latin typeface="Jost"/>
              </a:rPr>
              <a:t>Since 2023 — a16z “LLMflation”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343400"/>
            <a:ext cx="10820095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700" b="0" i="0">
                <a:solidFill>
                  <a:srgbClr val="5A5A5A"/>
                </a:solidFill>
                <a:latin typeface="Jost"/>
              </a:rPr>
              <a:t>This product was cost-prohibitive in 2023. Today the marginal LLM cost per post trends toward zero — and the venues just got their first federal rulebook.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577840"/>
            <a:ext cx="108200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50" b="0" i="0">
                <a:solidFill>
                  <a:srgbClr val="9A9A9A"/>
                </a:solidFill>
                <a:latin typeface="Jost"/>
              </a:rPr>
              <a:t>Prior art proves demand: PunditTracker tried accountability in 2012 — pre-LLM, pre-liquid-markets. Both blockers are gone.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1082009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0" i="0" spc="260">
                <a:solidFill>
                  <a:srgbClr val="9A9A9A"/>
                </a:solidFill>
                <a:latin typeface="Jost"/>
              </a:rPr>
              <a:t>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73952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>
                <a:solidFill>
                  <a:srgbClr val="9A9A9A"/>
                </a:solidFill>
                <a:latin typeface="Jost"/>
              </a:rPr>
              <a:t>narve.ai — confidential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74375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A9A9A"/>
                </a:solidFill>
                <a:latin typeface="Jost"/>
              </a:rPr>
              <a:t>06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14400"/>
            <a:ext cx="10820095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3000" b="0" i="0" spc="-50">
                <a:solidFill>
                  <a:srgbClr val="0D0D0D"/>
                </a:solidFill>
                <a:latin typeface="Jost"/>
              </a:rPr>
              <a:t>truth.narve.ai is built, tested, and </a:t>
            </a:r>
            <a:r>
              <a:rPr sz="3000" b="0" i="1" spc="-30">
                <a:solidFill>
                  <a:srgbClr val="0D0D0D"/>
                </a:solidFill>
                <a:latin typeface="Lora"/>
              </a:rPr>
              <a:t>demo-ready today.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011680"/>
            <a:ext cx="5349240" cy="1691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2212848"/>
            <a:ext cx="27432" cy="256032"/>
          </a:xfrm>
          <a:prstGeom prst="roundRect">
            <a:avLst>
              <a:gd name="adj" fmla="val 50000"/>
            </a:avLst>
          </a:prstGeom>
          <a:solidFill>
            <a:srgbClr val="0D0D0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3544" y="2194560"/>
            <a:ext cx="4873752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500" b="1" i="0">
                <a:solidFill>
                  <a:srgbClr val="0D0D0D"/>
                </a:solidFill>
                <a:latin typeface="Jost"/>
              </a:rPr>
              <a:t>Signal feed</a:t>
            </a:r>
          </a:p>
          <a:p>
            <a:pPr>
              <a:lnSpc>
                <a:spcPct val="125000"/>
              </a:lnSpc>
            </a:pPr>
            <a:r>
              <a:rPr sz="1200" b="0" i="0">
                <a:solidFill>
                  <a:srgbClr val="5A5A5A"/>
                </a:solidFill>
                <a:latin typeface="Jost"/>
              </a:rPr>
              <a:t>BUY YES / BUY NO calls ranked by best-side EV, source credibility attached, nine distinct risk flags.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2011680"/>
            <a:ext cx="5349240" cy="1691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12848"/>
            <a:ext cx="27432" cy="256032"/>
          </a:xfrm>
          <a:prstGeom prst="roundRect">
            <a:avLst>
              <a:gd name="adj" fmla="val 50000"/>
            </a:avLst>
          </a:prstGeom>
          <a:solidFill>
            <a:srgbClr val="0D0D0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01384" y="2194560"/>
            <a:ext cx="4873752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500" b="1" i="0">
                <a:solidFill>
                  <a:srgbClr val="0D0D0D"/>
                </a:solidFill>
                <a:latin typeface="Jost"/>
              </a:rPr>
              <a:t>Source leaderboard</a:t>
            </a:r>
          </a:p>
          <a:p>
            <a:pPr>
              <a:lnSpc>
                <a:spcPct val="125000"/>
              </a:lnSpc>
            </a:pPr>
            <a:r>
              <a:rPr sz="1200" b="0" i="0">
                <a:solidFill>
                  <a:srgbClr val="5A5A5A"/>
                </a:solidFill>
                <a:latin typeface="Jost"/>
              </a:rPr>
              <a:t>Brier-calibrated credibility per handle, 30-point trend history, public SVG share cards — receipts, not vibes.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931920"/>
            <a:ext cx="5349240" cy="1691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85800" y="4133088"/>
            <a:ext cx="27432" cy="256032"/>
          </a:xfrm>
          <a:prstGeom prst="roundRect">
            <a:avLst>
              <a:gd name="adj" fmla="val 50000"/>
            </a:avLst>
          </a:prstGeom>
          <a:solidFill>
            <a:srgbClr val="0D0D0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3544" y="4114800"/>
            <a:ext cx="4873752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500" b="1" i="0">
                <a:solidFill>
                  <a:srgbClr val="0D0D0D"/>
                </a:solidFill>
                <a:latin typeface="Jost"/>
              </a:rPr>
              <a:t>Backtest harness</a:t>
            </a:r>
          </a:p>
          <a:p>
            <a:pPr>
              <a:lnSpc>
                <a:spcPct val="125000"/>
              </a:lnSpc>
            </a:pPr>
            <a:r>
              <a:rPr sz="1200" b="0" i="0">
                <a:solidFill>
                  <a:srgbClr val="5A5A5A"/>
                </a:solidFill>
                <a:latin typeface="Jost"/>
              </a:rPr>
              <a:t>Sharpe, max drawdown, per-category P&amp;L at tunable thresholds — the “would I trust this with real money?” screen.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3931920"/>
            <a:ext cx="5349240" cy="1691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133088"/>
            <a:ext cx="27432" cy="256032"/>
          </a:xfrm>
          <a:prstGeom prst="roundRect">
            <a:avLst>
              <a:gd name="adj" fmla="val 50000"/>
            </a:avLst>
          </a:prstGeom>
          <a:solidFill>
            <a:srgbClr val="0D0D0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01384" y="4114800"/>
            <a:ext cx="4873752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500" b="1" i="0">
                <a:solidFill>
                  <a:srgbClr val="0D0D0D"/>
                </a:solidFill>
                <a:latin typeface="Jost"/>
              </a:rPr>
              <a:t>API, alerts &amp; arbitrage</a:t>
            </a:r>
          </a:p>
          <a:p>
            <a:pPr>
              <a:lnSpc>
                <a:spcPct val="125000"/>
              </a:lnSpc>
            </a:pPr>
            <a:r>
              <a:rPr sz="1200" b="0" i="0">
                <a:solidFill>
                  <a:srgbClr val="5A5A5A"/>
                </a:solidFill>
                <a:latin typeface="Jost"/>
              </a:rPr>
              <a:t>Public /api/v1 for quants and bots, per-user Telegram alerts, cross-venue Polymarket–Kalshi arbitrage.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200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9A9A9A"/>
                </a:solidFill>
                <a:latin typeface="Jost"/>
              </a:rPr>
              <a:t>Launch-ready and wired into the billing gateway — demo today via scoped investor access keys, no signup.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1082009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0" i="0" spc="260">
                <a:solidFill>
                  <a:srgbClr val="9A9A9A"/>
                </a:solidFill>
                <a:latin typeface="Jost"/>
              </a:rPr>
              <a:t>MOAT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73952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>
                <a:solidFill>
                  <a:srgbClr val="9A9A9A"/>
                </a:solidFill>
                <a:latin typeface="Jost"/>
              </a:rPr>
              <a:t>narve.ai — confidential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74375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A9A9A"/>
                </a:solidFill>
                <a:latin typeface="Jost"/>
              </a:rPr>
              <a:t>07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14400"/>
            <a:ext cx="10820095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2700" b="0" i="0" spc="-50">
                <a:solidFill>
                  <a:srgbClr val="0D0D0D"/>
                </a:solidFill>
                <a:latin typeface="Jost"/>
              </a:rPr>
              <a:t>Every settled market deepens a dataset competitors can </a:t>
            </a:r>
            <a:r>
              <a:rPr sz="2700" b="0" i="1" spc="-30">
                <a:solidFill>
                  <a:srgbClr val="0D0D0D"/>
                </a:solidFill>
                <a:latin typeface="Lora"/>
              </a:rPr>
              <a:t>never backfill.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011680"/>
            <a:ext cx="603504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350" b="0" i="0">
                <a:solidFill>
                  <a:srgbClr val="B0B0B0"/>
                </a:solidFill>
                <a:latin typeface="Jost"/>
              </a:rPr>
              <a:t>—  </a:t>
            </a:r>
            <a:r>
              <a:rPr sz="1350" b="1" i="0">
                <a:solidFill>
                  <a:srgbClr val="0D0D0D"/>
                </a:solidFill>
                <a:latin typeface="Jost"/>
              </a:rPr>
              <a:t>Unreconstructable history. </a:t>
            </a:r>
            <a:r>
              <a:rPr sz="1350" b="0" i="0">
                <a:solidFill>
                  <a:srgbClr val="5A5A5A"/>
                </a:solidFill>
                <a:latin typeface="Jost"/>
              </a:rPr>
              <a:t>The timestamped joint record — (claim, market price at claim time, resolved outcome) — cannot be rebuilt later.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350" b="0" i="0">
                <a:solidFill>
                  <a:srgbClr val="B0B0B0"/>
                </a:solidFill>
                <a:latin typeface="Jost"/>
              </a:rPr>
              <a:t>—  </a:t>
            </a:r>
            <a:r>
              <a:rPr sz="1350" b="1" i="0">
                <a:solidFill>
                  <a:srgbClr val="0D0D0D"/>
                </a:solidFill>
                <a:latin typeface="Jost"/>
              </a:rPr>
              <a:t>Ephemeral inputs. </a:t>
            </a:r>
            <a:r>
              <a:rPr sz="1350" b="0" i="0">
                <a:solidFill>
                  <a:srgbClr val="5A5A5A"/>
                </a:solidFill>
                <a:latin typeface="Jost"/>
              </a:rPr>
              <a:t>Posts get deleted; pre-resolution prices vanish. A competitor starting in 2028 starts at zero.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350" b="0" i="0">
                <a:solidFill>
                  <a:srgbClr val="B0B0B0"/>
                </a:solidFill>
                <a:latin typeface="Jost"/>
              </a:rPr>
              <a:t>—  </a:t>
            </a:r>
            <a:r>
              <a:rPr sz="1350" b="1" i="0">
                <a:solidFill>
                  <a:srgbClr val="0D0D0D"/>
                </a:solidFill>
                <a:latin typeface="Jost"/>
              </a:rPr>
              <a:t>Owned training data. </a:t>
            </a:r>
            <a:r>
              <a:rPr sz="1350" b="0" i="0">
                <a:solidFill>
                  <a:srgbClr val="5A5A5A"/>
                </a:solidFill>
                <a:latin typeface="Jost"/>
              </a:rPr>
              <a:t>ExtractionCache: a growing corpus of Claude-labeled social posts — paid once, owned forever.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350" b="0" i="0">
                <a:solidFill>
                  <a:srgbClr val="B0B0B0"/>
                </a:solidFill>
                <a:latin typeface="Jost"/>
              </a:rPr>
              <a:t>—  </a:t>
            </a:r>
            <a:r>
              <a:rPr sz="1350" b="1" i="0">
                <a:solidFill>
                  <a:srgbClr val="0D0D0D"/>
                </a:solidFill>
                <a:latin typeface="Jost"/>
              </a:rPr>
              <a:t>Free labeled data. </a:t>
            </a:r>
            <a:r>
              <a:rPr sz="1350" b="0" i="0">
                <a:solidFill>
                  <a:srgbClr val="5A5A5A"/>
                </a:solidFill>
                <a:latin typeface="Jost"/>
              </a:rPr>
              <a:t>User calibration mode: users build their own track records; the extractor learns from them.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69480" y="2011680"/>
            <a:ext cx="4206240" cy="3566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635240" y="4665685"/>
            <a:ext cx="274320" cy="134915"/>
          </a:xfrm>
          <a:prstGeom prst="roundRect">
            <a:avLst>
              <a:gd name="adj" fmla="val 18000"/>
            </a:avLst>
          </a:prstGeom>
          <a:solidFill>
            <a:srgbClr val="0D0D0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028432" y="4479716"/>
            <a:ext cx="274320" cy="320884"/>
          </a:xfrm>
          <a:prstGeom prst="roundRect">
            <a:avLst>
              <a:gd name="adj" fmla="val 18000"/>
            </a:avLst>
          </a:prstGeom>
          <a:solidFill>
            <a:srgbClr val="0D0D0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421624" y="4267925"/>
            <a:ext cx="274320" cy="532675"/>
          </a:xfrm>
          <a:prstGeom prst="roundRect">
            <a:avLst>
              <a:gd name="adj" fmla="val 18000"/>
            </a:avLst>
          </a:prstGeom>
          <a:solidFill>
            <a:srgbClr val="0D0D0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814816" y="4037405"/>
            <a:ext cx="274320" cy="763195"/>
          </a:xfrm>
          <a:prstGeom prst="roundRect">
            <a:avLst>
              <a:gd name="adj" fmla="val 18000"/>
            </a:avLst>
          </a:prstGeom>
          <a:solidFill>
            <a:srgbClr val="0D0D0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208008" y="3791874"/>
            <a:ext cx="274320" cy="1008726"/>
          </a:xfrm>
          <a:prstGeom prst="roundRect">
            <a:avLst>
              <a:gd name="adj" fmla="val 18000"/>
            </a:avLst>
          </a:prstGeom>
          <a:solidFill>
            <a:srgbClr val="0D0D0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601200" y="3533678"/>
            <a:ext cx="274320" cy="1266922"/>
          </a:xfrm>
          <a:prstGeom prst="roundRect">
            <a:avLst>
              <a:gd name="adj" fmla="val 18000"/>
            </a:avLst>
          </a:prstGeom>
          <a:solidFill>
            <a:srgbClr val="0D0D0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994392" y="3264451"/>
            <a:ext cx="274320" cy="1536149"/>
          </a:xfrm>
          <a:prstGeom prst="roundRect">
            <a:avLst>
              <a:gd name="adj" fmla="val 18000"/>
            </a:avLst>
          </a:prstGeom>
          <a:solidFill>
            <a:srgbClr val="0D0D0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0387584" y="2985405"/>
            <a:ext cx="274320" cy="1815195"/>
          </a:xfrm>
          <a:prstGeom prst="roundRect">
            <a:avLst>
              <a:gd name="adj" fmla="val 18000"/>
            </a:avLst>
          </a:prstGeom>
          <a:solidFill>
            <a:srgbClr val="0D0D0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780776" y="2697480"/>
            <a:ext cx="274320" cy="2103120"/>
          </a:xfrm>
          <a:prstGeom prst="roundRect">
            <a:avLst>
              <a:gd name="adj" fmla="val 18000"/>
            </a:avLst>
          </a:prstGeom>
          <a:solidFill>
            <a:srgbClr val="0D0D0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35240" y="4791456"/>
            <a:ext cx="3429000" cy="18288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35240" y="2240280"/>
            <a:ext cx="3474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100" b="1" i="0">
                <a:solidFill>
                  <a:srgbClr val="0D0D0D"/>
                </a:solidFill>
                <a:latin typeface="Jost"/>
              </a:rPr>
              <a:t>● </a:t>
            </a:r>
            <a:r>
              <a:rPr sz="1100" b="0" i="0">
                <a:solidFill>
                  <a:srgbClr val="5A5A5A"/>
                </a:solidFill>
                <a:latin typeface="Jost"/>
              </a:rPr>
              <a:t>our ledger — compounds every 5 minutes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35240" y="4910328"/>
            <a:ext cx="3474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100" b="1" i="0">
                <a:solidFill>
                  <a:srgbClr val="9A9A9A"/>
                </a:solidFill>
                <a:latin typeface="Jost"/>
              </a:rPr>
              <a:t>● </a:t>
            </a:r>
            <a:r>
              <a:rPr sz="1100" b="0" i="0">
                <a:solidFill>
                  <a:srgbClr val="9A9A9A"/>
                </a:solidFill>
                <a:latin typeface="Jost"/>
              </a:rPr>
              <a:t>competitor starting 2028 — zero history, forever behind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1082009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0" i="0" spc="260">
                <a:solidFill>
                  <a:srgbClr val="9A9A9A"/>
                </a:solidFill>
                <a:latin typeface="Jost"/>
              </a:rPr>
              <a:t>PLATFORM &amp; EXPANSION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73952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>
                <a:solidFill>
                  <a:srgbClr val="9A9A9A"/>
                </a:solidFill>
                <a:latin typeface="Jost"/>
              </a:rPr>
              <a:t>narve.ai — confidential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74375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A9A9A"/>
                </a:solidFill>
                <a:latin typeface="Jost"/>
              </a:rPr>
              <a:t>08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14400"/>
            <a:ext cx="10820095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2700" b="0" i="0" spc="-50">
                <a:solidFill>
                  <a:srgbClr val="0D0D0D"/>
                </a:solidFill>
                <a:latin typeface="Jost"/>
              </a:rPr>
              <a:t>One gateway, 15 dashboard SKUs: a new product ships as </a:t>
            </a:r>
            <a:r>
              <a:rPr sz="2700" b="0" i="1" spc="-30">
                <a:solidFill>
                  <a:srgbClr val="0D0D0D"/>
                </a:solidFill>
                <a:latin typeface="Lora"/>
              </a:rPr>
              <a:t>a config entry.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011680"/>
            <a:ext cx="56235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350" b="0" i="0">
                <a:solidFill>
                  <a:srgbClr val="B0B0B0"/>
                </a:solidFill>
                <a:latin typeface="Jost"/>
              </a:rPr>
              <a:t>—  </a:t>
            </a:r>
            <a:r>
              <a:rPr sz="1350" b="1" i="0">
                <a:solidFill>
                  <a:srgbClr val="0D0D0D"/>
                </a:solidFill>
                <a:latin typeface="Jost"/>
              </a:rPr>
              <a:t>One rail. </a:t>
            </a:r>
            <a:r>
              <a:rPr sz="1350" b="0" i="0">
                <a:solidFill>
                  <a:srgbClr val="5A5A5A"/>
                </a:solidFill>
                <a:latin typeface="Jost"/>
              </a:rPr>
              <a:t>Single SSO + Stripe: one cookie across all subdomains, per-request subscription gating.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350" b="0" i="0">
                <a:solidFill>
                  <a:srgbClr val="B0B0B0"/>
                </a:solidFill>
                <a:latin typeface="Jost"/>
              </a:rPr>
              <a:t>—  </a:t>
            </a:r>
            <a:r>
              <a:rPr sz="1350" b="1" i="0">
                <a:solidFill>
                  <a:srgbClr val="0D0D0D"/>
                </a:solidFill>
                <a:latin typeface="Jost"/>
              </a:rPr>
              <a:t>Curated storefront. </a:t>
            </a:r>
            <a:r>
              <a:rPr sz="1350" b="0" i="0">
                <a:solidFill>
                  <a:srgbClr val="5A5A5A"/>
                </a:solidFill>
                <a:latin typeface="Jost"/>
              </a:rPr>
              <a:t>3 live products today; ~10 built-and-parked dashboards as pre-built optionality.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350" b="0" i="0">
                <a:solidFill>
                  <a:srgbClr val="B0B0B0"/>
                </a:solidFill>
                <a:latin typeface="Jost"/>
              </a:rPr>
              <a:t>—  </a:t>
            </a:r>
            <a:r>
              <a:rPr sz="1350" b="1" i="0">
                <a:solidFill>
                  <a:srgbClr val="0D0D0D"/>
                </a:solidFill>
                <a:latin typeface="Jost"/>
              </a:rPr>
              <a:t>Lifecycle ops proven. </a:t>
            </a:r>
            <a:r>
              <a:rPr sz="1350" b="0" i="0">
                <a:solidFill>
                  <a:srgbClr val="5A5A5A"/>
                </a:solidFill>
                <a:latin typeface="Jost"/>
              </a:rPr>
              <a:t>Merge, bundle, park, revive via config flags — legacy subscriber access preserved.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350" b="0" i="0">
                <a:solidFill>
                  <a:srgbClr val="B0B0B0"/>
                </a:solidFill>
                <a:latin typeface="Jost"/>
              </a:rPr>
              <a:t>—  </a:t>
            </a:r>
            <a:r>
              <a:rPr sz="1350" b="1" i="0">
                <a:solidFill>
                  <a:srgbClr val="0D0D0D"/>
                </a:solidFill>
                <a:latin typeface="Jost"/>
              </a:rPr>
              <a:t>Non-storefront IP. </a:t>
            </a:r>
            <a:r>
              <a:rPr sz="1350" b="0" i="0">
                <a:solidFill>
                  <a:srgbClr val="5A5A5A"/>
                </a:solidFill>
                <a:latin typeface="Jost"/>
              </a:rPr>
              <a:t>Two headless Polymarket trading bots.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8366760" y="2157984"/>
            <a:ext cx="822960" cy="1554480.0"/>
          </a:xfrm>
          <a:prstGeom prst="line">
            <a:avLst/>
          </a:prstGeom>
          <a:ln w="9525">
            <a:solidFill>
              <a:srgbClr val="B0B0B0"/>
            </a:solidFill>
          </a:ln>
          <a:effectLst/>
        </p:spPr>
      </p:cxnSp>
      <p:cxnSp>
        <p:nvCxnSpPr>
          <p:cNvPr id="9" name="Connector 8"/>
          <p:cNvCxnSpPr/>
          <p:nvPr/>
        </p:nvCxnSpPr>
        <p:spPr>
          <a:xfrm flipV="1">
            <a:off x="8366760" y="2779776"/>
            <a:ext cx="822960" cy="932688.0"/>
          </a:xfrm>
          <a:prstGeom prst="line">
            <a:avLst/>
          </a:prstGeom>
          <a:ln w="9525">
            <a:solidFill>
              <a:srgbClr val="B0B0B0"/>
            </a:solidFill>
          </a:ln>
          <a:effectLst/>
        </p:spPr>
      </p:cxnSp>
      <p:cxnSp>
        <p:nvCxnSpPr>
          <p:cNvPr id="10" name="Connector 9"/>
          <p:cNvCxnSpPr/>
          <p:nvPr/>
        </p:nvCxnSpPr>
        <p:spPr>
          <a:xfrm flipV="1">
            <a:off x="8366760" y="3401568"/>
            <a:ext cx="822960" cy="310896.0"/>
          </a:xfrm>
          <a:prstGeom prst="line">
            <a:avLst/>
          </a:prstGeom>
          <a:ln w="9525">
            <a:solidFill>
              <a:srgbClr val="B0B0B0"/>
            </a:solidFill>
          </a:ln>
          <a:effectLst/>
        </p:spPr>
      </p:cxnSp>
      <p:cxnSp>
        <p:nvCxnSpPr>
          <p:cNvPr id="11" name="Connector 10"/>
          <p:cNvCxnSpPr/>
          <p:nvPr/>
        </p:nvCxnSpPr>
        <p:spPr>
          <a:xfrm>
            <a:off x="8366760" y="3712464.0"/>
            <a:ext cx="822960" cy="310896.0"/>
          </a:xfrm>
          <a:prstGeom prst="line">
            <a:avLst/>
          </a:prstGeom>
          <a:ln w="9525">
            <a:solidFill>
              <a:srgbClr val="B0B0B0"/>
            </a:solidFill>
          </a:ln>
          <a:effectLst/>
        </p:spPr>
      </p:cxnSp>
      <p:cxnSp>
        <p:nvCxnSpPr>
          <p:cNvPr id="12" name="Connector 11"/>
          <p:cNvCxnSpPr/>
          <p:nvPr/>
        </p:nvCxnSpPr>
        <p:spPr>
          <a:xfrm>
            <a:off x="8366760" y="3712464.0"/>
            <a:ext cx="822960" cy="932688.0"/>
          </a:xfrm>
          <a:prstGeom prst="line">
            <a:avLst/>
          </a:prstGeom>
          <a:ln w="9525">
            <a:solidFill>
              <a:srgbClr val="B0B0B0"/>
            </a:solidFill>
          </a:ln>
          <a:effectLst/>
        </p:spPr>
      </p:cxnSp>
      <p:cxnSp>
        <p:nvCxnSpPr>
          <p:cNvPr id="13" name="Connector 12"/>
          <p:cNvCxnSpPr/>
          <p:nvPr/>
        </p:nvCxnSpPr>
        <p:spPr>
          <a:xfrm>
            <a:off x="8366760" y="3712464.0"/>
            <a:ext cx="822960" cy="1554480.0"/>
          </a:xfrm>
          <a:prstGeom prst="line">
            <a:avLst/>
          </a:prstGeom>
          <a:ln w="9525">
            <a:solidFill>
              <a:srgbClr val="B0B0B0"/>
            </a:solidFill>
          </a:ln>
          <a:effectLst/>
        </p:spPr>
      </p:cxnSp>
      <p:sp>
        <p:nvSpPr>
          <p:cNvPr id="14" name="Rounded Rectangle 13"/>
          <p:cNvSpPr/>
          <p:nvPr/>
        </p:nvSpPr>
        <p:spPr>
          <a:xfrm>
            <a:off x="9189720" y="1920240"/>
            <a:ext cx="2331720" cy="47548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54312" y="1920240"/>
            <a:ext cx="20574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850" b="1" i="0" spc="80">
                <a:solidFill>
                  <a:srgbClr val="0D0D0D"/>
                </a:solidFill>
                <a:latin typeface="Jost"/>
              </a:rPr>
              <a:t>LIVE   </a:t>
            </a:r>
            <a:r>
              <a:rPr sz="1000" b="1" i="0">
                <a:solidFill>
                  <a:srgbClr val="0D0D0D"/>
                </a:solidFill>
                <a:latin typeface="Jost"/>
              </a:rPr>
              <a:t>Weather  $7.99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89720" y="2542032"/>
            <a:ext cx="2331720" cy="47548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54312" y="2542032"/>
            <a:ext cx="20574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850" b="1" i="0" spc="80">
                <a:solidFill>
                  <a:srgbClr val="0D0D0D"/>
                </a:solidFill>
                <a:latin typeface="Jost"/>
              </a:rPr>
              <a:t>LIVE   </a:t>
            </a:r>
            <a:r>
              <a:rPr sz="1000" b="1" i="0">
                <a:solidFill>
                  <a:srgbClr val="0D0D0D"/>
                </a:solidFill>
                <a:latin typeface="Jost"/>
              </a:rPr>
              <a:t>Midterm  $14.99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89720" y="3163824"/>
            <a:ext cx="2331720" cy="47548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54312" y="3163824"/>
            <a:ext cx="20574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850" b="1" i="0" spc="80">
                <a:solidFill>
                  <a:srgbClr val="0D0D0D"/>
                </a:solidFill>
                <a:latin typeface="Jost"/>
              </a:rPr>
              <a:t>LIVE   </a:t>
            </a:r>
            <a:r>
              <a:rPr sz="1000" b="1" i="0">
                <a:solidFill>
                  <a:srgbClr val="0D0D0D"/>
                </a:solidFill>
                <a:latin typeface="Jost"/>
              </a:rPr>
              <a:t>Market Edge  $9.99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89720" y="3785616"/>
            <a:ext cx="2331720" cy="47548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54312" y="3785616"/>
            <a:ext cx="20574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850" b="1" i="0" spc="80">
                <a:solidFill>
                  <a:srgbClr val="0D0D0D"/>
                </a:solidFill>
                <a:latin typeface="Jost"/>
              </a:rPr>
              <a:t>NEXT   </a:t>
            </a:r>
            <a:r>
              <a:rPr sz="1000" b="1" i="0">
                <a:solidFill>
                  <a:srgbClr val="0D0D0D"/>
                </a:solidFill>
                <a:latin typeface="Jost"/>
              </a:rPr>
              <a:t>truth.narve.ai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89720" y="4407408"/>
            <a:ext cx="2331720" cy="47548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54312" y="4407408"/>
            <a:ext cx="20574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850" b="1" i="0" spc="80">
                <a:solidFill>
                  <a:srgbClr val="9A9A9A"/>
                </a:solidFill>
                <a:latin typeface="Jost"/>
              </a:rPr>
              <a:t>PARKED   </a:t>
            </a:r>
            <a:r>
              <a:rPr sz="1000" b="0" i="0">
                <a:solidFill>
                  <a:srgbClr val="9A9A9A"/>
                </a:solidFill>
                <a:latin typeface="Jost"/>
              </a:rPr>
              <a:t>sports · whale · traders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89720" y="5029200"/>
            <a:ext cx="2331720" cy="47548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54312" y="5029200"/>
            <a:ext cx="20574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850" b="1" i="0" spc="80">
                <a:solidFill>
                  <a:srgbClr val="9A9A9A"/>
                </a:solidFill>
                <a:latin typeface="Jost"/>
              </a:rPr>
              <a:t>PARKED   </a:t>
            </a:r>
            <a:r>
              <a:rPr sz="1000" b="0" i="0">
                <a:solidFill>
                  <a:srgbClr val="9A9A9A"/>
                </a:solidFill>
                <a:latin typeface="Jost"/>
              </a:rPr>
              <a:t>world · religion · +4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37960" y="3232404"/>
            <a:ext cx="1828800" cy="960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37960" y="3232404"/>
            <a:ext cx="182880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0D0D0D"/>
                </a:solidFill>
                <a:latin typeface="Jost"/>
              </a:rPr>
              <a:t>gateway</a:t>
            </a:r>
          </a:p>
          <a:p>
            <a:pPr algn="ctr"/>
            <a:r>
              <a:rPr sz="950" b="0" i="0">
                <a:solidFill>
                  <a:srgbClr val="5A5A5A"/>
                </a:solidFill>
                <a:latin typeface="Jost"/>
              </a:rPr>
              <a:t>SSO · Stripe · proxy · fleet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5897880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9A9A9A"/>
                </a:solidFill>
                <a:latin typeface="Jost"/>
              </a:rPr>
              <a:t>New SKU = config entry + port + DNS route.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1082009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0" i="0" spc="260">
                <a:solidFill>
                  <a:srgbClr val="9A9A9A"/>
                </a:solidFill>
                <a:latin typeface="Jost"/>
              </a:rPr>
              <a:t>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73952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>
                <a:solidFill>
                  <a:srgbClr val="9A9A9A"/>
                </a:solidFill>
                <a:latin typeface="Jost"/>
              </a:rPr>
              <a:t>narve.ai — confidential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74375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A9A9A"/>
                </a:solidFill>
                <a:latin typeface="Jost"/>
              </a:rPr>
              <a:t>09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14400"/>
            <a:ext cx="10820095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2700" b="0" i="0" spc="-50">
                <a:solidFill>
                  <a:srgbClr val="0D0D0D"/>
                </a:solidFill>
                <a:latin typeface="Jost"/>
              </a:rPr>
              <a:t>Pick-and-mix subscriptions, $5.99–$19.99/mo — revenue is a </a:t>
            </a:r>
            <a:r>
              <a:rPr sz="2700" b="0" i="1" spc="-30">
                <a:solidFill>
                  <a:srgbClr val="0D0D0D"/>
                </a:solidFill>
                <a:latin typeface="Lora"/>
              </a:rPr>
              <a:t>switch-flip.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103120"/>
            <a:ext cx="2533573" cy="17373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2304288"/>
            <a:ext cx="2131237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000" b="1" i="0" spc="120">
                <a:solidFill>
                  <a:srgbClr val="9A9A9A"/>
                </a:solidFill>
                <a:latin typeface="Jost"/>
              </a:rPr>
              <a:t>PER-DASHBOARD</a:t>
            </a:r>
          </a:p>
          <a:p>
            <a:pPr>
              <a:spcAft>
                <a:spcPts val="600"/>
              </a:spcAft>
            </a:pPr>
            <a:r>
              <a:rPr sz="2300" b="1" i="0" spc="-30">
                <a:solidFill>
                  <a:srgbClr val="0D0D0D"/>
                </a:solidFill>
                <a:latin typeface="Jost"/>
              </a:rPr>
              <a:t>$5.99–$19.99</a:t>
            </a:r>
          </a:p>
          <a:p>
            <a:pPr>
              <a:lnSpc>
                <a:spcPct val="120000"/>
              </a:lnSpc>
            </a:pPr>
            <a:r>
              <a:rPr sz="1050" b="0" i="0">
                <a:solidFill>
                  <a:srgbClr val="5A5A5A"/>
                </a:solidFill>
                <a:latin typeface="Jost"/>
              </a:rPr>
              <a:t>per month · annual ≈ 2 months free (gateway config)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47973" y="2103120"/>
            <a:ext cx="2533573" cy="17373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49141" y="2304288"/>
            <a:ext cx="2131237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000" b="1" i="0" spc="120">
                <a:solidFill>
                  <a:srgbClr val="0D0D0D"/>
                </a:solidFill>
                <a:latin typeface="Jost"/>
              </a:rPr>
              <a:t>TRUTH RESEARCH</a:t>
            </a:r>
          </a:p>
          <a:p>
            <a:pPr>
              <a:spcAft>
                <a:spcPts val="600"/>
              </a:spcAft>
            </a:pPr>
            <a:r>
              <a:rPr sz="2300" b="1" i="0" spc="-30">
                <a:solidFill>
                  <a:srgbClr val="0D0D0D"/>
                </a:solidFill>
                <a:latin typeface="Jost"/>
              </a:rPr>
              <a:t>$14.99 / mo</a:t>
            </a:r>
          </a:p>
          <a:p>
            <a:pPr>
              <a:lnSpc>
                <a:spcPct val="120000"/>
              </a:lnSpc>
            </a:pPr>
            <a:r>
              <a:rPr sz="1050" b="0" i="0">
                <a:solidFill>
                  <a:srgbClr val="5A5A5A"/>
                </a:solidFill>
                <a:latin typeface="Jost"/>
              </a:rPr>
              <a:t>$149 / yr — SKU already wired into checkout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0146" y="2103120"/>
            <a:ext cx="2533573" cy="17373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1314" y="2304288"/>
            <a:ext cx="2131237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000" b="1" i="0" spc="120">
                <a:solidFill>
                  <a:srgbClr val="9A9A9A"/>
                </a:solidFill>
                <a:latin typeface="Jost"/>
              </a:rPr>
              <a:t>ALL-ACCESS BUNDLES</a:t>
            </a:r>
          </a:p>
          <a:p>
            <a:pPr>
              <a:spcAft>
                <a:spcPts val="600"/>
              </a:spcAft>
            </a:pPr>
            <a:r>
              <a:rPr sz="2300" b="1" i="0" spc="-30">
                <a:solidFill>
                  <a:srgbClr val="0D0D0D"/>
                </a:solidFill>
                <a:latin typeface="Jost"/>
              </a:rPr>
              <a:t>$49 / $149</a:t>
            </a:r>
          </a:p>
          <a:p>
            <a:pPr>
              <a:lnSpc>
                <a:spcPct val="120000"/>
              </a:lnSpc>
            </a:pPr>
            <a:r>
              <a:rPr sz="1050" b="0" i="0">
                <a:solidFill>
                  <a:srgbClr val="5A5A5A"/>
                </a:solidFill>
                <a:latin typeface="Jost"/>
              </a:rPr>
              <a:t>Trader / Pro per month — coded in checkout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72319" y="2103120"/>
            <a:ext cx="2533573" cy="17373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73487" y="2304288"/>
            <a:ext cx="2131237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000" b="1" i="0" spc="120">
                <a:solidFill>
                  <a:srgbClr val="9A9A9A"/>
                </a:solidFill>
                <a:latin typeface="Jost"/>
              </a:rPr>
              <a:t>INSTITUTIONAL FEEDS</a:t>
            </a:r>
          </a:p>
          <a:p>
            <a:pPr>
              <a:spcAft>
                <a:spcPts val="600"/>
              </a:spcAft>
            </a:pPr>
            <a:r>
              <a:rPr sz="2300" b="1" i="0" spc="-30">
                <a:solidFill>
                  <a:srgbClr val="0D0D0D"/>
                </a:solidFill>
                <a:latin typeface="Jost"/>
              </a:rPr>
              <a:t>custom</a:t>
            </a:r>
          </a:p>
          <a:p>
            <a:pPr>
              <a:lnSpc>
                <a:spcPct val="120000"/>
              </a:lnSpc>
            </a:pPr>
            <a:r>
              <a:rPr sz="1050" b="0" i="0">
                <a:solidFill>
                  <a:srgbClr val="5A5A5A"/>
                </a:solidFill>
                <a:latin typeface="Jost"/>
              </a:rPr>
              <a:t>ICE already sells one (Polymarket Signals, Feb 2026 — ICE IR)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297680"/>
            <a:ext cx="10820095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50" b="0" i="0">
                <a:solidFill>
                  <a:srgbClr val="B0B0B0"/>
                </a:solidFill>
                <a:latin typeface="Jost"/>
              </a:rPr>
              <a:t>—  </a:t>
            </a:r>
            <a:r>
              <a:rPr sz="1350" b="1" i="0">
                <a:solidFill>
                  <a:srgbClr val="0D0D0D"/>
                </a:solidFill>
                <a:latin typeface="Jost"/>
              </a:rPr>
              <a:t>Revenue is a switch-flip, not a build. </a:t>
            </a:r>
            <a:r>
              <a:rPr sz="1350" b="0" i="0">
                <a:solidFill>
                  <a:srgbClr val="5A5A5A"/>
                </a:solidFill>
                <a:latin typeface="Jost"/>
              </a:rPr>
              <a:t>Checkout, webhooks, and live-format price IDs for seven products exist; wiring production Stripe keys is a documented ~30-minute checklist.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50" b="0" i="0">
                <a:solidFill>
                  <a:srgbClr val="B0B0B0"/>
                </a:solidFill>
                <a:latin typeface="Jost"/>
              </a:rPr>
              <a:t>—  </a:t>
            </a:r>
            <a:r>
              <a:rPr sz="1350" b="1" i="0">
                <a:solidFill>
                  <a:srgbClr val="0D0D0D"/>
                </a:solidFill>
                <a:latin typeface="Jost"/>
              </a:rPr>
              <a:t>Two engines. </a:t>
            </a:r>
            <a:r>
              <a:rPr sz="1350" b="0" i="0">
                <a:solidFill>
                  <a:srgbClr val="5A5A5A"/>
                </a:solidFill>
                <a:latin typeface="Jost"/>
              </a:rPr>
              <a:t>Prosumer subscriptions now; institutional data feeds later — the ICE playbook, one tier down.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1082009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0" i="0" spc="260">
                <a:solidFill>
                  <a:srgbClr val="9A9A9A"/>
                </a:solidFill>
                <a:latin typeface="Jost"/>
              </a:rPr>
              <a:t>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73952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>
                <a:solidFill>
                  <a:srgbClr val="9A9A9A"/>
                </a:solidFill>
                <a:latin typeface="Jost"/>
              </a:rPr>
              <a:t>narve.ai — confidential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74375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A9A9A"/>
                </a:solidFill>
                <a:latin typeface="Jost"/>
              </a:rPr>
              <a:t>10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14400"/>
            <a:ext cx="10820095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2500" b="0" i="0" spc="-50">
                <a:solidFill>
                  <a:srgbClr val="0D0D0D"/>
                </a:solidFill>
                <a:latin typeface="Jost"/>
              </a:rPr>
              <a:t>A $6.5B research-platform market — prediction markets are its </a:t>
            </a:r>
            <a:r>
              <a:rPr sz="2500" b="0" i="1" spc="-30">
                <a:solidFill>
                  <a:srgbClr val="0D0D0D"/>
                </a:solidFill>
                <a:latin typeface="Lora"/>
              </a:rPr>
              <a:t>fastest-growing category.</a:t>
            </a:r>
          </a:p>
        </p:txBody>
      </p:sp>
      <p:sp>
        <p:nvSpPr>
          <p:cNvPr id="7" name="Oval 6"/>
          <p:cNvSpPr/>
          <p:nvPr/>
        </p:nvSpPr>
        <p:spPr>
          <a:xfrm>
            <a:off x="1463040" y="2606954"/>
            <a:ext cx="3566160" cy="2924251"/>
          </a:xfrm>
          <a:prstGeom prst="ellipse">
            <a:avLst/>
          </a:prstGeom>
          <a:solidFill>
            <a:srgbClr val="E3E3E3"/>
          </a:solidFill>
          <a:ln w="25400">
            <a:solidFill>
              <a:srgbClr val="F5F5F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011680" y="3056839"/>
            <a:ext cx="2468880" cy="2024481"/>
          </a:xfrm>
          <a:prstGeom prst="ellipse">
            <a:avLst/>
          </a:prstGeom>
          <a:solidFill>
            <a:srgbClr val="B0B0B0"/>
          </a:solidFill>
          <a:ln w="25400">
            <a:solidFill>
              <a:srgbClr val="F5F5F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532888" y="3484229"/>
            <a:ext cx="1426464" cy="1169700"/>
          </a:xfrm>
          <a:prstGeom prst="ellipse">
            <a:avLst/>
          </a:prstGeom>
          <a:solidFill>
            <a:srgbClr val="0D0D0D"/>
          </a:solidFill>
          <a:ln w="25400">
            <a:solidFill>
              <a:srgbClr val="F5F5F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138928" y="2441448"/>
            <a:ext cx="128016" cy="128016"/>
          </a:xfrm>
          <a:prstGeom prst="ellipse">
            <a:avLst/>
          </a:prstGeom>
          <a:solidFill>
            <a:srgbClr val="E3E3E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49240" y="2395728"/>
            <a:ext cx="29260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350" b="1" i="0">
                <a:solidFill>
                  <a:srgbClr val="0D0D0D"/>
                </a:solidFill>
                <a:latin typeface="Jost"/>
              </a:rPr>
              <a:t>TAM  $6.5B → $13.25B</a:t>
            </a:r>
          </a:p>
          <a:p>
            <a:pPr>
              <a:lnSpc>
                <a:spcPct val="110000"/>
              </a:lnSpc>
            </a:pPr>
            <a:r>
              <a:rPr sz="1000" b="0" i="0">
                <a:solidFill>
                  <a:srgbClr val="5A5A5A"/>
                </a:solidFill>
                <a:latin typeface="Jost"/>
              </a:rPr>
              <a:t>investment-research platforms, 2025→2030 — Research and Markets</a:t>
            </a:r>
          </a:p>
        </p:txBody>
      </p:sp>
      <p:sp>
        <p:nvSpPr>
          <p:cNvPr id="12" name="Oval 11"/>
          <p:cNvSpPr/>
          <p:nvPr/>
        </p:nvSpPr>
        <p:spPr>
          <a:xfrm>
            <a:off x="5138928" y="3355848"/>
            <a:ext cx="128016" cy="128016"/>
          </a:xfrm>
          <a:prstGeom prst="ellipse">
            <a:avLst/>
          </a:prstGeom>
          <a:solidFill>
            <a:srgbClr val="B0B0B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49240" y="3310128"/>
            <a:ext cx="29260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350" b="1" i="0">
                <a:solidFill>
                  <a:srgbClr val="0D0D0D"/>
                </a:solidFill>
                <a:latin typeface="Jost"/>
              </a:rPr>
              <a:t>SAM  ~$0.9–2.5B / yr</a:t>
            </a:r>
          </a:p>
          <a:p>
            <a:pPr>
              <a:lnSpc>
                <a:spcPct val="110000"/>
              </a:lnSpc>
            </a:pPr>
            <a:r>
              <a:rPr sz="1000" b="0" i="0">
                <a:solidFill>
                  <a:srgbClr val="5A5A5A"/>
                </a:solidFill>
                <a:latin typeface="Jost"/>
              </a:rPr>
              <a:t>by 2029–30 — company estimate from cited inputs</a:t>
            </a:r>
          </a:p>
        </p:txBody>
      </p:sp>
      <p:sp>
        <p:nvSpPr>
          <p:cNvPr id="14" name="Oval 13"/>
          <p:cNvSpPr/>
          <p:nvPr/>
        </p:nvSpPr>
        <p:spPr>
          <a:xfrm>
            <a:off x="5138928" y="4087368"/>
            <a:ext cx="128016" cy="128016"/>
          </a:xfrm>
          <a:prstGeom prst="ellipse">
            <a:avLst/>
          </a:prstGeom>
          <a:solidFill>
            <a:srgbClr val="0D0D0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49240" y="4041648"/>
            <a:ext cx="29260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350" b="1" i="0">
                <a:solidFill>
                  <a:srgbClr val="0D0D0D"/>
                </a:solidFill>
                <a:latin typeface="Jost"/>
              </a:rPr>
              <a:t>SOM  ~$5–25M ARR</a:t>
            </a:r>
          </a:p>
          <a:p>
            <a:pPr>
              <a:lnSpc>
                <a:spcPct val="110000"/>
              </a:lnSpc>
            </a:pPr>
            <a:r>
              <a:rPr sz="1000" b="0" i="0">
                <a:solidFill>
                  <a:srgbClr val="5A5A5A"/>
                </a:solidFill>
                <a:latin typeface="Jost"/>
              </a:rPr>
              <a:t>within 3–4 years — company estimate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41080" y="2148840"/>
            <a:ext cx="2880360" cy="32918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60536" y="2331720"/>
            <a:ext cx="2441448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000" b="1" i="0" spc="120">
                <a:solidFill>
                  <a:srgbClr val="9A9A9A"/>
                </a:solidFill>
                <a:latin typeface="Jost"/>
              </a:rPr>
              <a:t>THE BOTTOM-UP MATH</a:t>
            </a:r>
          </a:p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250" b="1" i="0">
                <a:solidFill>
                  <a:srgbClr val="0D0D0D"/>
                </a:solidFill>
                <a:latin typeface="Jost"/>
              </a:rPr>
              <a:t>678K </a:t>
            </a:r>
            <a:r>
              <a:rPr sz="1100" b="0" i="0">
                <a:solidFill>
                  <a:srgbClr val="5A5A5A"/>
                </a:solidFill>
                <a:latin typeface="Jost"/>
              </a:rPr>
              <a:t>monthly traders — Polymarket on-chain uniques, Apr 2026</a:t>
            </a:r>
          </a:p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250" b="1" i="0">
                <a:solidFill>
                  <a:srgbClr val="0D0D0D"/>
                </a:solidFill>
                <a:latin typeface="Jost"/>
              </a:rPr>
              <a:t>× 20–35% </a:t>
            </a:r>
            <a:r>
              <a:rPr sz="1100" b="0" i="0">
                <a:solidFill>
                  <a:srgbClr val="5A5A5A"/>
                </a:solidFill>
                <a:latin typeface="Jost"/>
              </a:rPr>
              <a:t>serious-trader segment</a:t>
            </a:r>
          </a:p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250" b="1" i="0">
                <a:solidFill>
                  <a:srgbClr val="0D0D0D"/>
                </a:solidFill>
                <a:latin typeface="Jost"/>
              </a:rPr>
              <a:t>× $300–600/yr </a:t>
            </a:r>
            <a:r>
              <a:rPr sz="1100" b="0" i="0">
                <a:solidFill>
                  <a:srgbClr val="5A5A5A"/>
                </a:solidFill>
                <a:latin typeface="Jost"/>
              </a:rPr>
              <a:t>ARPU (Finviz / Stock Rover comps)</a:t>
            </a:r>
          </a:p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250" b="1" i="0">
                <a:solidFill>
                  <a:srgbClr val="0D0D0D"/>
                </a:solidFill>
                <a:latin typeface="Jost"/>
              </a:rPr>
              <a:t>+ </a:t>
            </a:r>
            <a:r>
              <a:rPr sz="1100" b="0" i="0">
                <a:solidFill>
                  <a:srgbClr val="5A5A5A"/>
                </a:solidFill>
                <a:latin typeface="Jost"/>
              </a:rPr>
              <a:t>institutional feed licenses ($49.2B market-data spend — Burton-Taylor FY2025)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897880"/>
            <a:ext cx="108200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1">
                <a:solidFill>
                  <a:srgbClr val="9A9A9A"/>
                </a:solidFill>
                <a:latin typeface="Jost"/>
              </a:rPr>
              <a:t>* SAM and SOM are company estimates derived from the cited inputs — not third-party figures.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1082009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0" i="0" spc="260">
                <a:solidFill>
                  <a:srgbClr val="9A9A9A"/>
                </a:solidFill>
                <a:latin typeface="Jost"/>
              </a:rPr>
              <a:t>COMPETITION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73952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>
                <a:solidFill>
                  <a:srgbClr val="9A9A9A"/>
                </a:solidFill>
                <a:latin typeface="Jost"/>
              </a:rPr>
              <a:t>narve.ai — confidential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74375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A9A9A"/>
                </a:solidFill>
                <a:latin typeface="Jost"/>
              </a:rPr>
              <a:t>11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14400"/>
            <a:ext cx="10820095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2500" b="0" i="0" spc="-50">
                <a:solidFill>
                  <a:srgbClr val="0D0D0D"/>
                </a:solidFill>
                <a:latin typeface="Jost"/>
              </a:rPr>
              <a:t>Everyone analyzes the market or counts the crowd; nobody keeps score of </a:t>
            </a:r>
            <a:r>
              <a:rPr sz="2500" b="0" i="1" spc="-30">
                <a:solidFill>
                  <a:srgbClr val="0D0D0D"/>
                </a:solidFill>
                <a:latin typeface="Lora"/>
              </a:rPr>
              <a:t>the people.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011680"/>
            <a:ext cx="53949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350" b="0" i="0">
                <a:solidFill>
                  <a:srgbClr val="B0B0B0"/>
                </a:solidFill>
                <a:latin typeface="Jost"/>
              </a:rPr>
              <a:t>—  </a:t>
            </a:r>
            <a:r>
              <a:rPr sz="1350" b="1" i="0">
                <a:solidFill>
                  <a:srgbClr val="0D0D0D"/>
                </a:solidFill>
                <a:latin typeface="Jost"/>
              </a:rPr>
              <a:t>Terminals, wallet trackers, Dune: </a:t>
            </a:r>
            <a:r>
              <a:rPr sz="1350" b="0" i="0">
                <a:solidFill>
                  <a:srgbClr val="5A5A5A"/>
                </a:solidFill>
                <a:latin typeface="Jost"/>
              </a:rPr>
              <a:t>only see money already inside the market — after the price moved.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350" b="0" i="0">
                <a:solidFill>
                  <a:srgbClr val="B0B0B0"/>
                </a:solidFill>
                <a:latin typeface="Jost"/>
              </a:rPr>
              <a:t>—  </a:t>
            </a:r>
            <a:r>
              <a:rPr sz="1350" b="1" i="0">
                <a:solidFill>
                  <a:srgbClr val="0D0D0D"/>
                </a:solidFill>
                <a:latin typeface="Jost"/>
              </a:rPr>
              <a:t>LunarCrush, Santiment: </a:t>
            </a:r>
            <a:r>
              <a:rPr sz="1350" b="0" i="0">
                <a:solidFill>
                  <a:srgbClr val="5A5A5A"/>
                </a:solidFill>
                <a:latin typeface="Jost"/>
              </a:rPr>
              <a:t>crowd volume and mood — never falsifiable, never settled.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350" b="0" i="0">
                <a:solidFill>
                  <a:srgbClr val="B0B0B0"/>
                </a:solidFill>
                <a:latin typeface="Jost"/>
              </a:rPr>
              <a:t>—  </a:t>
            </a:r>
            <a:r>
              <a:rPr sz="1350" b="1" i="0">
                <a:solidFill>
                  <a:srgbClr val="0D0D0D"/>
                </a:solidFill>
                <a:latin typeface="Jost"/>
              </a:rPr>
              <a:t>Metaculus, FutureSearch: </a:t>
            </a:r>
            <a:r>
              <a:rPr sz="1350" b="0" i="0">
                <a:solidFill>
                  <a:srgbClr val="5A5A5A"/>
                </a:solidFill>
                <a:latin typeface="Jost"/>
              </a:rPr>
              <a:t>rigorous, but score only their own or on-platform forecasts.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350" b="0" i="0">
                <a:solidFill>
                  <a:srgbClr val="B0B0B0"/>
                </a:solidFill>
                <a:latin typeface="Jost"/>
              </a:rPr>
              <a:t>—  </a:t>
            </a:r>
            <a:r>
              <a:rPr sz="1350" b="1" i="0">
                <a:solidFill>
                  <a:srgbClr val="0D0D0D"/>
                </a:solidFill>
                <a:latin typeface="Jost"/>
              </a:rPr>
              <a:t>narve.ai alone: </a:t>
            </a:r>
            <a:r>
              <a:rPr sz="1350" b="0" i="0">
                <a:solidFill>
                  <a:srgbClr val="5A5A5A"/>
                </a:solidFill>
                <a:latin typeface="Jost"/>
              </a:rPr>
              <a:t>off-market authored claims → outcome-settled, EV-ranked signals across both venues.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37960" y="1783080"/>
            <a:ext cx="4983480" cy="4343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675120" y="3954780"/>
            <a:ext cx="4709160" cy="9144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029700" y="1920240"/>
            <a:ext cx="9144" cy="4069080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02552" y="3698748"/>
            <a:ext cx="20116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 spc="120">
                <a:solidFill>
                  <a:srgbClr val="9A9A9A"/>
                </a:solidFill>
                <a:latin typeface="Jost"/>
              </a:rPr>
              <a:t>MARKET-NATIVE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45168" y="3698748"/>
            <a:ext cx="20116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1" i="0" spc="120">
                <a:solidFill>
                  <a:srgbClr val="9A9A9A"/>
                </a:solidFill>
                <a:latin typeface="Jost"/>
              </a:rPr>
              <a:t>OFF-MARKET HUMAN CLAIMS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51876" y="1892808"/>
            <a:ext cx="20116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 i="0" spc="120">
                <a:solidFill>
                  <a:srgbClr val="9A9A9A"/>
                </a:solidFill>
                <a:latin typeface="Jost"/>
              </a:rPr>
              <a:t>SETTLED, EV-RANKED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51876" y="5797296"/>
            <a:ext cx="20116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 i="0" spc="120">
                <a:solidFill>
                  <a:srgbClr val="9A9A9A"/>
                </a:solidFill>
                <a:latin typeface="Jost"/>
              </a:rPr>
              <a:t>RAW / UNSCORED</a:t>
            </a:r>
          </a:p>
        </p:txBody>
      </p:sp>
      <p:sp>
        <p:nvSpPr>
          <p:cNvPr id="15" name="Oval 14"/>
          <p:cNvSpPr/>
          <p:nvPr/>
        </p:nvSpPr>
        <p:spPr>
          <a:xfrm>
            <a:off x="7179868" y="5266944"/>
            <a:ext cx="118872" cy="118872"/>
          </a:xfrm>
          <a:prstGeom prst="ellipse">
            <a:avLst/>
          </a:prstGeom>
          <a:solidFill>
            <a:srgbClr val="9A9A9A"/>
          </a:solidFill>
          <a:ln w="2540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43740" y="5236944"/>
            <a:ext cx="16916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50" b="0" i="0">
                <a:solidFill>
                  <a:srgbClr val="5A5A5A"/>
                </a:solidFill>
                <a:latin typeface="Jost"/>
              </a:rPr>
              <a:t>Dune · venue APIs</a:t>
            </a:r>
          </a:p>
        </p:txBody>
      </p:sp>
      <p:sp>
        <p:nvSpPr>
          <p:cNvPr id="17" name="Oval 16"/>
          <p:cNvSpPr/>
          <p:nvPr/>
        </p:nvSpPr>
        <p:spPr>
          <a:xfrm>
            <a:off x="7098487" y="4649724"/>
            <a:ext cx="118872" cy="118872"/>
          </a:xfrm>
          <a:prstGeom prst="ellipse">
            <a:avLst/>
          </a:prstGeom>
          <a:solidFill>
            <a:srgbClr val="9A9A9A"/>
          </a:solidFill>
          <a:ln w="2540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62359" y="4619724"/>
            <a:ext cx="16916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50" b="0" i="0">
                <a:solidFill>
                  <a:srgbClr val="5A5A5A"/>
                </a:solidFill>
                <a:latin typeface="Jost"/>
              </a:rPr>
              <a:t>Polymarket Analytics</a:t>
            </a:r>
          </a:p>
        </p:txBody>
      </p:sp>
      <p:sp>
        <p:nvSpPr>
          <p:cNvPr id="19" name="Oval 18"/>
          <p:cNvSpPr/>
          <p:nvPr/>
        </p:nvSpPr>
        <p:spPr>
          <a:xfrm>
            <a:off x="7586776" y="4169664"/>
            <a:ext cx="118872" cy="118872"/>
          </a:xfrm>
          <a:prstGeom prst="ellipse">
            <a:avLst/>
          </a:prstGeom>
          <a:solidFill>
            <a:srgbClr val="9A9A9A"/>
          </a:solidFill>
          <a:ln w="2540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50648" y="4139664"/>
            <a:ext cx="16916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50" b="0" i="0">
                <a:solidFill>
                  <a:srgbClr val="5A5A5A"/>
                </a:solidFill>
                <a:latin typeface="Jost"/>
              </a:rPr>
              <a:t>Polysights</a:t>
            </a:r>
          </a:p>
        </p:txBody>
      </p:sp>
      <p:sp>
        <p:nvSpPr>
          <p:cNvPr id="21" name="Oval 20"/>
          <p:cNvSpPr/>
          <p:nvPr/>
        </p:nvSpPr>
        <p:spPr>
          <a:xfrm>
            <a:off x="7993684" y="3483864"/>
            <a:ext cx="118872" cy="118872"/>
          </a:xfrm>
          <a:prstGeom prst="ellipse">
            <a:avLst/>
          </a:prstGeom>
          <a:solidFill>
            <a:srgbClr val="9A9A9A"/>
          </a:solidFill>
          <a:ln w="2540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57556" y="3453864"/>
            <a:ext cx="16916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50" b="0" i="0">
                <a:solidFill>
                  <a:srgbClr val="5A5A5A"/>
                </a:solidFill>
                <a:latin typeface="Jost"/>
              </a:rPr>
              <a:t>Verso</a:t>
            </a:r>
          </a:p>
        </p:txBody>
      </p:sp>
      <p:sp>
        <p:nvSpPr>
          <p:cNvPr id="23" name="Oval 22"/>
          <p:cNvSpPr/>
          <p:nvPr/>
        </p:nvSpPr>
        <p:spPr>
          <a:xfrm>
            <a:off x="9702698" y="5266944"/>
            <a:ext cx="118872" cy="118872"/>
          </a:xfrm>
          <a:prstGeom prst="ellipse">
            <a:avLst/>
          </a:prstGeom>
          <a:solidFill>
            <a:srgbClr val="9A9A9A"/>
          </a:solidFill>
          <a:ln w="2540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866570" y="5236944"/>
            <a:ext cx="16916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50" b="0" i="0">
                <a:solidFill>
                  <a:srgbClr val="5A5A5A"/>
                </a:solidFill>
                <a:latin typeface="Jost"/>
              </a:rPr>
              <a:t>LunarCrush</a:t>
            </a:r>
          </a:p>
        </p:txBody>
      </p:sp>
      <p:sp>
        <p:nvSpPr>
          <p:cNvPr id="25" name="Oval 24"/>
          <p:cNvSpPr/>
          <p:nvPr/>
        </p:nvSpPr>
        <p:spPr>
          <a:xfrm>
            <a:off x="10190988" y="4855464"/>
            <a:ext cx="118872" cy="118872"/>
          </a:xfrm>
          <a:prstGeom prst="ellipse">
            <a:avLst/>
          </a:prstGeom>
          <a:solidFill>
            <a:srgbClr val="9A9A9A"/>
          </a:solidFill>
          <a:ln w="2540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354860" y="4825464"/>
            <a:ext cx="16916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50" b="0" i="0">
                <a:solidFill>
                  <a:srgbClr val="5A5A5A"/>
                </a:solidFill>
                <a:latin typeface="Jost"/>
              </a:rPr>
              <a:t>Santiment</a:t>
            </a:r>
          </a:p>
        </p:txBody>
      </p:sp>
      <p:sp>
        <p:nvSpPr>
          <p:cNvPr id="27" name="Oval 26"/>
          <p:cNvSpPr/>
          <p:nvPr/>
        </p:nvSpPr>
        <p:spPr>
          <a:xfrm>
            <a:off x="8644737" y="2866644"/>
            <a:ext cx="118872" cy="118872"/>
          </a:xfrm>
          <a:prstGeom prst="ellipse">
            <a:avLst/>
          </a:prstGeom>
          <a:solidFill>
            <a:srgbClr val="9A9A9A"/>
          </a:solidFill>
          <a:ln w="2540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808609" y="2836644"/>
            <a:ext cx="16916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50" b="0" i="0">
                <a:solidFill>
                  <a:srgbClr val="5A5A5A"/>
                </a:solidFill>
                <a:latin typeface="Jost"/>
              </a:rPr>
              <a:t>Metaculus</a:t>
            </a:r>
          </a:p>
        </p:txBody>
      </p:sp>
      <p:sp>
        <p:nvSpPr>
          <p:cNvPr id="29" name="Oval 28"/>
          <p:cNvSpPr/>
          <p:nvPr/>
        </p:nvSpPr>
        <p:spPr>
          <a:xfrm>
            <a:off x="9092336" y="3278124"/>
            <a:ext cx="118872" cy="118872"/>
          </a:xfrm>
          <a:prstGeom prst="ellipse">
            <a:avLst/>
          </a:prstGeom>
          <a:solidFill>
            <a:srgbClr val="9A9A9A"/>
          </a:solidFill>
          <a:ln w="2540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56208" y="3248124"/>
            <a:ext cx="16916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50" b="0" i="0">
                <a:solidFill>
                  <a:srgbClr val="5A5A5A"/>
                </a:solidFill>
                <a:latin typeface="Jost"/>
              </a:rPr>
              <a:t>FutureSearch</a:t>
            </a:r>
          </a:p>
        </p:txBody>
      </p:sp>
      <p:sp>
        <p:nvSpPr>
          <p:cNvPr id="31" name="Oval 30"/>
          <p:cNvSpPr/>
          <p:nvPr/>
        </p:nvSpPr>
        <p:spPr>
          <a:xfrm>
            <a:off x="10294772" y="2505456"/>
            <a:ext cx="155448" cy="155448"/>
          </a:xfrm>
          <a:prstGeom prst="ellipse">
            <a:avLst/>
          </a:prstGeom>
          <a:solidFill>
            <a:srgbClr val="0D0D0D"/>
          </a:solidFill>
          <a:ln w="2540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495220" y="2475456"/>
            <a:ext cx="16916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>
                <a:solidFill>
                  <a:srgbClr val="0D0D0D"/>
                </a:solidFill>
                <a:latin typeface="Jost"/>
              </a:rPr>
              <a:t>narve.ai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1082009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0" i="0" spc="260">
                <a:solidFill>
                  <a:srgbClr val="9A9A9A"/>
                </a:solidFill>
                <a:latin typeface="Jost"/>
              </a:rPr>
              <a:t>EXECUTION IS THE 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73952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>
                <a:solidFill>
                  <a:srgbClr val="9A9A9A"/>
                </a:solidFill>
                <a:latin typeface="Jost"/>
              </a:rPr>
              <a:t>narve.ai — confidential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74375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A9A9A"/>
                </a:solidFill>
                <a:latin typeface="Jost"/>
              </a:rPr>
              <a:t>12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14400"/>
            <a:ext cx="10820095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2500" b="0" i="0" spc="-50">
                <a:solidFill>
                  <a:srgbClr val="0D0D0D"/>
                </a:solidFill>
                <a:latin typeface="Jost"/>
              </a:rPr>
              <a:t>Pre-launch by choice — the machine is built, tested, billable, and </a:t>
            </a:r>
            <a:r>
              <a:rPr sz="2500" b="0" i="1" spc="-30">
                <a:solidFill>
                  <a:srgbClr val="0D0D0D"/>
                </a:solidFill>
                <a:latin typeface="Lora"/>
              </a:rPr>
              <a:t>self-auditing.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103120"/>
            <a:ext cx="2533573" cy="17373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2286000"/>
            <a:ext cx="2094661" cy="14264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950" b="0" i="0" spc="160">
                <a:solidFill>
                  <a:srgbClr val="9A9A9A"/>
                </a:solidFill>
                <a:latin typeface="Jost"/>
              </a:rPr>
              <a:t>TESTS</a:t>
            </a:r>
          </a:p>
          <a:p>
            <a:pPr>
              <a:spcAft>
                <a:spcPts val="500"/>
              </a:spcAft>
            </a:pPr>
            <a:r>
              <a:rPr sz="2600" b="0" i="1" spc="-40">
                <a:solidFill>
                  <a:srgbClr val="0D0D0D"/>
                </a:solidFill>
                <a:latin typeface="Fraunces"/>
              </a:rPr>
              <a:t>211</a:t>
            </a:r>
          </a:p>
          <a:p>
            <a:pPr>
              <a:lnSpc>
                <a:spcPct val="115000"/>
              </a:lnSpc>
            </a:pPr>
            <a:r>
              <a:rPr sz="1050" b="0" i="0">
                <a:solidFill>
                  <a:srgbClr val="5A5A5A"/>
                </a:solidFill>
                <a:latin typeface="Jost"/>
              </a:rPr>
              <a:t>test functions · 16 pytest files (repo-verified)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47973" y="2103120"/>
            <a:ext cx="2533573" cy="17373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67429" y="2286000"/>
            <a:ext cx="2094661" cy="14264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950" b="0" i="0" spc="160">
                <a:solidFill>
                  <a:srgbClr val="9A9A9A"/>
                </a:solidFill>
                <a:latin typeface="Jost"/>
              </a:rPr>
              <a:t>DASHBOARD SKUS</a:t>
            </a:r>
          </a:p>
          <a:p>
            <a:pPr>
              <a:spcAft>
                <a:spcPts val="500"/>
              </a:spcAft>
            </a:pPr>
            <a:r>
              <a:rPr sz="2600" b="0" i="1" spc="-40">
                <a:solidFill>
                  <a:srgbClr val="0D0D0D"/>
                </a:solidFill>
                <a:latin typeface="Fraunces"/>
              </a:rPr>
              <a:t>15</a:t>
            </a:r>
          </a:p>
          <a:p>
            <a:pPr>
              <a:lnSpc>
                <a:spcPct val="115000"/>
              </a:lnSpc>
            </a:pPr>
            <a:r>
              <a:rPr sz="1050" b="0" i="0">
                <a:solidFill>
                  <a:srgbClr val="5A5A5A"/>
                </a:solidFill>
                <a:latin typeface="Jost"/>
              </a:rPr>
              <a:t>wired into one auth + billing gateway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0146" y="2103120"/>
            <a:ext cx="2533573" cy="17373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9602" y="2286000"/>
            <a:ext cx="2094661" cy="14264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950" b="0" i="0" spc="160">
                <a:solidFill>
                  <a:srgbClr val="9A9A9A"/>
                </a:solidFill>
                <a:latin typeface="Jost"/>
              </a:rPr>
              <a:t>TRADING BOTS</a:t>
            </a:r>
          </a:p>
          <a:p>
            <a:pPr>
              <a:spcAft>
                <a:spcPts val="500"/>
              </a:spcAft>
            </a:pPr>
            <a:r>
              <a:rPr sz="2600" b="0" i="1" spc="-40">
                <a:solidFill>
                  <a:srgbClr val="0D0D0D"/>
                </a:solidFill>
                <a:latin typeface="Fraunces"/>
              </a:rPr>
              <a:t>2</a:t>
            </a:r>
          </a:p>
          <a:p>
            <a:pPr>
              <a:lnSpc>
                <a:spcPct val="115000"/>
              </a:lnSpc>
            </a:pPr>
            <a:r>
              <a:rPr sz="1050" b="0" i="0">
                <a:solidFill>
                  <a:srgbClr val="5A5A5A"/>
                </a:solidFill>
                <a:latin typeface="Jost"/>
              </a:rPr>
              <a:t>headless Polymarket bots — non-storefront IP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72319" y="2103120"/>
            <a:ext cx="2533573" cy="17373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91775" y="2286000"/>
            <a:ext cx="2094661" cy="14264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950" b="0" i="0" spc="160">
                <a:solidFill>
                  <a:srgbClr val="9A9A9A"/>
                </a:solidFill>
                <a:latin typeface="Jost"/>
              </a:rPr>
              <a:t>QUANT MODELS</a:t>
            </a:r>
          </a:p>
          <a:p>
            <a:pPr>
              <a:spcAft>
                <a:spcPts val="500"/>
              </a:spcAft>
            </a:pPr>
            <a:r>
              <a:rPr sz="2600" b="0" i="1" spc="-40">
                <a:solidFill>
                  <a:srgbClr val="0D0D0D"/>
                </a:solidFill>
                <a:latin typeface="Fraunces"/>
              </a:rPr>
              <a:t>20</a:t>
            </a:r>
          </a:p>
          <a:p>
            <a:pPr>
              <a:lnSpc>
                <a:spcPct val="115000"/>
              </a:lnSpc>
            </a:pPr>
            <a:r>
              <a:rPr sz="1050" b="0" i="0">
                <a:solidFill>
                  <a:srgbClr val="5A5A5A"/>
                </a:solidFill>
                <a:latin typeface="Jost"/>
              </a:rPr>
              <a:t>walk-forward, null-benchmarked, after-cost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114800"/>
            <a:ext cx="10820095" cy="960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114800"/>
            <a:ext cx="10180015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700" b="0" i="1">
                <a:solidFill>
                  <a:srgbClr val="0D0D0D"/>
                </a:solidFill>
                <a:latin typeface="Lora"/>
              </a:rPr>
              <a:t>“An edge smaller than costs is not an edge.”</a:t>
            </a:r>
            <a:r>
              <a:rPr sz="1200" b="0" i="0">
                <a:solidFill>
                  <a:srgbClr val="5A5A5A"/>
                </a:solidFill>
                <a:latin typeface="Jost"/>
              </a:rPr>
              <a:t>   — the 20-model quant toolkit refuses to manufacture an edge, even in its own backtest.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321808"/>
            <a:ext cx="10820095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250" b="0" i="0">
                <a:solidFill>
                  <a:srgbClr val="B0B0B0"/>
                </a:solidFill>
                <a:latin typeface="Jost"/>
              </a:rPr>
              <a:t>—  </a:t>
            </a:r>
            <a:r>
              <a:rPr sz="1250" b="1" i="0">
                <a:solidFill>
                  <a:srgbClr val="0D0D0D"/>
                </a:solidFill>
                <a:latin typeface="Jost"/>
              </a:rPr>
              <a:t>Gateway running: </a:t>
            </a:r>
            <a:r>
              <a:rPr sz="1250" b="0" i="0">
                <a:solidFill>
                  <a:srgbClr val="5A5A5A"/>
                </a:solidFill>
                <a:latin typeface="Jost"/>
              </a:rPr>
              <a:t>SSO, Stripe checkout, WebSocket proxying, admin fleet ops across 15 SKUs. CI, Docker deploys, snapshot-before-deploy, macOS desktop build.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250" b="0" i="0">
                <a:solidFill>
                  <a:srgbClr val="B0B0B0"/>
                </a:solidFill>
                <a:latin typeface="Jost"/>
              </a:rPr>
              <a:t>—  </a:t>
            </a:r>
            <a:r>
              <a:rPr sz="1250" b="1" i="0">
                <a:solidFill>
                  <a:srgbClr val="0D0D0D"/>
                </a:solidFill>
                <a:latin typeface="Jost"/>
              </a:rPr>
              <a:t>Self-proving by design: </a:t>
            </a:r>
            <a:r>
              <a:rPr sz="1250" b="0" i="0">
                <a:solidFill>
                  <a:srgbClr val="5A5A5A"/>
                </a:solidFill>
                <a:latin typeface="Jost"/>
              </a:rPr>
              <a:t>every signal paper-traded and force-settled; public backtest harness (Sharpe, drawdown).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1082009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0" i="0" spc="260">
                <a:solidFill>
                  <a:srgbClr val="9A9A9A"/>
                </a:solidFill>
                <a:latin typeface="Jost"/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73952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>
                <a:solidFill>
                  <a:srgbClr val="9A9A9A"/>
                </a:solidFill>
                <a:latin typeface="Jost"/>
              </a:rPr>
              <a:t>narve.ai — confidential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74375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A9A9A"/>
                </a:solidFill>
                <a:latin typeface="Jost"/>
              </a:rPr>
              <a:t>13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14400"/>
            <a:ext cx="10820095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3000" b="0" i="0" spc="-50">
                <a:solidFill>
                  <a:srgbClr val="0D0D0D"/>
                </a:solidFill>
                <a:latin typeface="Jost"/>
              </a:rPr>
              <a:t>Launch, compound the ledger in public, then </a:t>
            </a:r>
            <a:r>
              <a:rPr sz="3000" b="0" i="1" spc="-30">
                <a:solidFill>
                  <a:srgbClr val="0D0D0D"/>
                </a:solidFill>
                <a:latin typeface="Lora"/>
              </a:rPr>
              <a:t>sell the feed.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057400"/>
            <a:ext cx="10820095" cy="9144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85800" y="2002536"/>
            <a:ext cx="118872" cy="118872"/>
          </a:xfrm>
          <a:prstGeom prst="ellipse">
            <a:avLst/>
          </a:prstGeom>
          <a:solidFill>
            <a:srgbClr val="0D0D0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85800" y="2286000"/>
            <a:ext cx="3423818" cy="27432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450592"/>
            <a:ext cx="3058058" cy="2414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 i="0" spc="140">
                <a:solidFill>
                  <a:srgbClr val="0D0D0D"/>
                </a:solidFill>
                <a:latin typeface="Jost"/>
              </a:rPr>
              <a:t>PHASE 1 — LAUNCH</a:t>
            </a:r>
          </a:p>
          <a:p>
            <a:pPr>
              <a:spcAft>
                <a:spcPts val="800"/>
              </a:spcAft>
            </a:pPr>
            <a:r>
              <a:rPr sz="1300" b="1" i="0">
                <a:solidFill>
                  <a:srgbClr val="0D0D0D"/>
                </a:solidFill>
                <a:latin typeface="Jost"/>
              </a:rPr>
              <a:t>Switch the machine on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050" b="1" i="0">
                <a:solidFill>
                  <a:srgbClr val="9A9A9A"/>
                </a:solidFill>
                <a:latin typeface="Jost"/>
              </a:rPr>
              <a:t>—  </a:t>
            </a:r>
            <a:r>
              <a:rPr sz="1050" b="0" i="0">
                <a:solidFill>
                  <a:srgbClr val="5A5A5A"/>
                </a:solidFill>
                <a:latin typeface="Jost"/>
              </a:rPr>
              <a:t>Flip Stripe live (documented ~30-min checklist)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050" b="1" i="0">
                <a:solidFill>
                  <a:srgbClr val="9A9A9A"/>
                </a:solidFill>
                <a:latin typeface="Jost"/>
              </a:rPr>
              <a:t>—  </a:t>
            </a:r>
            <a:r>
              <a:rPr sz="1050" b="0" i="0">
                <a:solidFill>
                  <a:srgbClr val="5A5A5A"/>
                </a:solidFill>
                <a:latin typeface="Jost"/>
              </a:rPr>
              <a:t>Unhide truth.narve.ai in the storefront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050" b="1" i="0">
                <a:solidFill>
                  <a:srgbClr val="9A9A9A"/>
                </a:solidFill>
                <a:latin typeface="Jost"/>
              </a:rPr>
              <a:t>—  </a:t>
            </a:r>
            <a:r>
              <a:rPr sz="1050" b="0" i="0">
                <a:solidFill>
                  <a:srgbClr val="5A5A5A"/>
                </a:solidFill>
                <a:latin typeface="Jost"/>
              </a:rPr>
              <a:t>Publish the public credibility leaderboard</a:t>
            </a:r>
          </a:p>
        </p:txBody>
      </p:sp>
      <p:sp>
        <p:nvSpPr>
          <p:cNvPr id="11" name="Oval 10"/>
          <p:cNvSpPr/>
          <p:nvPr/>
        </p:nvSpPr>
        <p:spPr>
          <a:xfrm>
            <a:off x="4383938" y="2002536"/>
            <a:ext cx="118872" cy="118872"/>
          </a:xfrm>
          <a:prstGeom prst="ellipse">
            <a:avLst/>
          </a:prstGeom>
          <a:solidFill>
            <a:srgbClr val="0D0D0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83938" y="2286000"/>
            <a:ext cx="3423818" cy="27432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66818" y="2450592"/>
            <a:ext cx="3058058" cy="2414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 i="0" spc="140">
                <a:solidFill>
                  <a:srgbClr val="0D0D0D"/>
                </a:solidFill>
                <a:latin typeface="Jost"/>
              </a:rPr>
              <a:t>PHASE 2 — COMPOUND</a:t>
            </a:r>
          </a:p>
          <a:p>
            <a:pPr>
              <a:spcAft>
                <a:spcPts val="800"/>
              </a:spcAft>
            </a:pPr>
            <a:r>
              <a:rPr sz="1300" b="1" i="0">
                <a:solidFill>
                  <a:srgbClr val="0D0D0D"/>
                </a:solidFill>
                <a:latin typeface="Jost"/>
              </a:rPr>
              <a:t>Grow the ledger in public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050" b="1" i="0">
                <a:solidFill>
                  <a:srgbClr val="9A9A9A"/>
                </a:solidFill>
                <a:latin typeface="Jost"/>
              </a:rPr>
              <a:t>—  </a:t>
            </a:r>
            <a:r>
              <a:rPr sz="1050" b="0" i="0">
                <a:solidFill>
                  <a:srgbClr val="5A5A5A"/>
                </a:solidFill>
                <a:latin typeface="Jost"/>
              </a:rPr>
              <a:t>SVG share cards + user calibration as growth loops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050" b="1" i="0">
                <a:solidFill>
                  <a:srgbClr val="9A9A9A"/>
                </a:solidFill>
                <a:latin typeface="Jost"/>
              </a:rPr>
              <a:t>—  </a:t>
            </a:r>
            <a:r>
              <a:rPr sz="1050" b="0" i="0">
                <a:solidFill>
                  <a:srgbClr val="5A5A5A"/>
                </a:solidFill>
                <a:latin typeface="Jost"/>
              </a:rPr>
              <a:t>Widen sources; lift X API quota caps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050" b="1" i="0">
                <a:solidFill>
                  <a:srgbClr val="9A9A9A"/>
                </a:solidFill>
                <a:latin typeface="Jost"/>
              </a:rPr>
              <a:t>—  </a:t>
            </a:r>
            <a:r>
              <a:rPr sz="1050" b="0" i="0">
                <a:solidFill>
                  <a:srgbClr val="5A5A5A"/>
                </a:solidFill>
                <a:latin typeface="Jost"/>
              </a:rPr>
              <a:t>Upgrade Jaccard matching to semantic</a:t>
            </a:r>
          </a:p>
        </p:txBody>
      </p:sp>
      <p:sp>
        <p:nvSpPr>
          <p:cNvPr id="14" name="Oval 13"/>
          <p:cNvSpPr/>
          <p:nvPr/>
        </p:nvSpPr>
        <p:spPr>
          <a:xfrm>
            <a:off x="8082076" y="2002536"/>
            <a:ext cx="118872" cy="118872"/>
          </a:xfrm>
          <a:prstGeom prst="ellipse">
            <a:avLst/>
          </a:prstGeom>
          <a:solidFill>
            <a:srgbClr val="0D0D0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082076" y="2286000"/>
            <a:ext cx="3423818" cy="27432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64956" y="2450592"/>
            <a:ext cx="3058058" cy="2414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 i="0" spc="140">
                <a:solidFill>
                  <a:srgbClr val="0D0D0D"/>
                </a:solidFill>
                <a:latin typeface="Jost"/>
              </a:rPr>
              <a:t>PHASE 3 — MONETIZE DATA</a:t>
            </a:r>
          </a:p>
          <a:p>
            <a:pPr>
              <a:spcAft>
                <a:spcPts val="800"/>
              </a:spcAft>
            </a:pPr>
            <a:r>
              <a:rPr sz="1300" b="1" i="0">
                <a:solidFill>
                  <a:srgbClr val="0D0D0D"/>
                </a:solidFill>
                <a:latin typeface="Jost"/>
              </a:rPr>
              <a:t>Sell the feed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050" b="1" i="0">
                <a:solidFill>
                  <a:srgbClr val="9A9A9A"/>
                </a:solidFill>
                <a:latin typeface="Jost"/>
              </a:rPr>
              <a:t>—  </a:t>
            </a:r>
            <a:r>
              <a:rPr sz="1050" b="0" i="0">
                <a:solidFill>
                  <a:srgbClr val="5A5A5A"/>
                </a:solidFill>
                <a:latin typeface="Jost"/>
              </a:rPr>
              <a:t>Quant API tiers on the existing /api/v1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050" b="1" i="0">
                <a:solidFill>
                  <a:srgbClr val="9A9A9A"/>
                </a:solidFill>
                <a:latin typeface="Jost"/>
              </a:rPr>
              <a:t>—  </a:t>
            </a:r>
            <a:r>
              <a:rPr sz="1050" b="0" i="0">
                <a:solidFill>
                  <a:srgbClr val="5A5A5A"/>
                </a:solidFill>
                <a:latin typeface="Jost"/>
              </a:rPr>
              <a:t>Institutional feed pilot — the ICE playbook, one tier down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050" b="1" i="0">
                <a:solidFill>
                  <a:srgbClr val="9A9A9A"/>
                </a:solidFill>
                <a:latin typeface="Jost"/>
              </a:rPr>
              <a:t>—  </a:t>
            </a:r>
            <a:r>
              <a:rPr sz="1050" b="0" i="0">
                <a:solidFill>
                  <a:srgbClr val="5A5A5A"/>
                </a:solidFill>
                <a:latin typeface="Jost"/>
              </a:rPr>
              <a:t>Unpark bench dashboards behind demonstrated demand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623560"/>
            <a:ext cx="108200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9A9A9A"/>
                </a:solidFill>
                <a:latin typeface="Jost"/>
              </a:rPr>
              <a:t>North-star KPI until scale: ledger depth — settled, timestamped predictions per week. The moat grows every 5 minutes, regardless of phase.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1082009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0" i="0" spc="260">
                <a:solidFill>
                  <a:srgbClr val="9A9A9A"/>
                </a:solidFill>
                <a:latin typeface="Jost"/>
              </a:rPr>
              <a:t>TEAM &amp; 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73952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>
                <a:solidFill>
                  <a:srgbClr val="9A9A9A"/>
                </a:solidFill>
                <a:latin typeface="Jost"/>
              </a:rPr>
              <a:t>narve.ai — confidential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74375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A9A9A"/>
                </a:solidFill>
                <a:latin typeface="Jost"/>
              </a:rPr>
              <a:t>14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14400"/>
            <a:ext cx="10820095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2600" b="0" i="0" spc="-50">
                <a:solidFill>
                  <a:srgbClr val="0D0D0D"/>
                </a:solidFill>
                <a:latin typeface="Jost"/>
              </a:rPr>
              <a:t>Habbig &amp; Cakarel built the entire stack — $50K </a:t>
            </a:r>
            <a:r>
              <a:rPr sz="2600" b="0" i="1" spc="-30">
                <a:solidFill>
                  <a:srgbClr val="0D0D0D"/>
                </a:solidFill>
                <a:latin typeface="Lora"/>
              </a:rPr>
              <a:t>switches it 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103120"/>
            <a:ext cx="5349240" cy="3383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331720"/>
            <a:ext cx="480060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050" b="1" i="0" spc="140">
                <a:solidFill>
                  <a:srgbClr val="0D0D0D"/>
                </a:solidFill>
                <a:latin typeface="Jost"/>
              </a:rPr>
              <a:t>TEAM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0D0D0D"/>
                </a:solidFill>
                <a:latin typeface="Jost"/>
              </a:rPr>
              <a:t>Julian Habbig</a:t>
            </a:r>
            <a:r>
              <a:rPr sz="1250" b="1" i="0">
                <a:solidFill>
                  <a:srgbClr val="0D0D0D"/>
                </a:solidFill>
                <a:latin typeface="Jost"/>
              </a:rPr>
              <a:t>  ·  CEO</a:t>
            </a:r>
          </a:p>
          <a:p>
            <a:pPr>
              <a:spcAft>
                <a:spcPts val="900"/>
              </a:spcAft>
            </a:pPr>
            <a:r>
              <a:rPr sz="1150" b="0" i="0">
                <a:solidFill>
                  <a:srgbClr val="5A5A5A"/>
                </a:solidFill>
                <a:latin typeface="Jost"/>
              </a:rPr>
              <a:t>julian@habbig.com · [PLACEHOLDER: background, prior roles, relevant wins]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0D0D0D"/>
                </a:solidFill>
                <a:latin typeface="Jost"/>
              </a:rPr>
              <a:t>Sho Cakarel</a:t>
            </a:r>
            <a:r>
              <a:rPr sz="1250" b="1" i="0">
                <a:solidFill>
                  <a:srgbClr val="0D0D0D"/>
                </a:solidFill>
                <a:latin typeface="Jost"/>
              </a:rPr>
              <a:t>  ·  CTO</a:t>
            </a:r>
          </a:p>
          <a:p>
            <a:pPr>
              <a:spcAft>
                <a:spcPts val="900"/>
              </a:spcAft>
            </a:pPr>
            <a:r>
              <a:rPr sz="1150" b="0" i="0">
                <a:solidFill>
                  <a:srgbClr val="5A5A5A"/>
                </a:solidFill>
                <a:latin typeface="Jost"/>
              </a:rPr>
              <a:t>sho@cakarel.com · [PLACEHOLDER: background, prior roles, relevant wins]</a:t>
            </a:r>
          </a:p>
          <a:p>
            <a:pPr>
              <a:lnSpc>
                <a:spcPct val="125000"/>
              </a:lnSpc>
            </a:pPr>
            <a:r>
              <a:rPr sz="1250" b="1" i="0">
                <a:solidFill>
                  <a:srgbClr val="0D0D0D"/>
                </a:solidFill>
                <a:latin typeface="Jost"/>
              </a:rPr>
              <a:t>The repo is the résumé: </a:t>
            </a:r>
            <a:r>
              <a:rPr sz="1250" b="0" i="0">
                <a:solidFill>
                  <a:srgbClr val="5A5A5A"/>
                </a:solidFill>
                <a:latin typeface="Jost"/>
              </a:rPr>
              <a:t>15 dashboards, 2 trading bots, one auth/billing gateway, one 20-model quant toolkit — documented, tested, deployable.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2103120"/>
            <a:ext cx="5242255" cy="3383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2331720"/>
            <a:ext cx="4693615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050" b="1" i="0" spc="140">
                <a:solidFill>
                  <a:srgbClr val="0D0D0D"/>
                </a:solidFill>
                <a:latin typeface="Jost"/>
              </a:rPr>
              <a:t>THE ASK</a:t>
            </a:r>
          </a:p>
          <a:p>
            <a:pPr>
              <a:spcAft>
                <a:spcPts val="1000"/>
              </a:spcAft>
            </a:pPr>
            <a:r>
              <a:rPr sz="3200" b="0" i="1">
                <a:solidFill>
                  <a:srgbClr val="0D0D0D"/>
                </a:solidFill>
                <a:latin typeface="Fraunces"/>
              </a:rPr>
              <a:t>$50,000</a:t>
            </a:r>
            <a:r>
              <a:rPr sz="1300" b="0" i="0">
                <a:solidFill>
                  <a:srgbClr val="5A5A5A"/>
                </a:solidFill>
                <a:latin typeface="Jost"/>
              </a:rPr>
              <a:t>  pre-seed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250" b="1" i="0">
                <a:solidFill>
                  <a:srgbClr val="0D0D0D"/>
                </a:solidFill>
                <a:latin typeface="Jost"/>
              </a:rPr>
              <a:t>Instrument: </a:t>
            </a:r>
            <a:r>
              <a:rPr sz="1250" b="0" i="0">
                <a:solidFill>
                  <a:srgbClr val="5A5A5A"/>
                </a:solidFill>
                <a:latin typeface="Jost"/>
              </a:rPr>
              <a:t>SAFE — [PLACEHOLDER: cap/discount, target close date]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250" b="1" i="0">
                <a:solidFill>
                  <a:srgbClr val="0D0D0D"/>
                </a:solidFill>
                <a:latin typeface="Jost"/>
              </a:rPr>
              <a:t>Use of funds: </a:t>
            </a:r>
            <a:r>
              <a:rPr sz="1250" b="0" i="0">
                <a:solidFill>
                  <a:srgbClr val="5A5A5A"/>
                </a:solidFill>
                <a:latin typeface="Jost"/>
              </a:rPr>
              <a:t>~40% data &amp; API costs (X quota, LLM extraction) · ~35% engineering (semantic matching, multi-tenancy) · ~25% launch GTM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250" b="1" i="0">
                <a:solidFill>
                  <a:srgbClr val="0D0D0D"/>
                </a:solidFill>
                <a:latin typeface="Jost"/>
              </a:rPr>
              <a:t>Buys: </a:t>
            </a:r>
            <a:r>
              <a:rPr sz="1250" b="0" i="0">
                <a:solidFill>
                  <a:srgbClr val="5A5A5A"/>
                </a:solidFill>
                <a:latin typeface="Jost"/>
              </a:rPr>
              <a:t>public launch + [PLACEHOLDER: X] months of ledger compounding — the dataset no later entrant can rebuild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5806440"/>
            <a:ext cx="108200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0D0D0D"/>
                </a:solidFill>
                <a:latin typeface="Jost"/>
              </a:rPr>
              <a:t>Live demo today: investor access keys — instant, scoped, no signup.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