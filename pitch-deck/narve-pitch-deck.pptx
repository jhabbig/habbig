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hook, not the company: 'Right now, on X and Truth Social, politicians, pundits, and anons are publishing predictions that move real regulated markets. Nobody keeps score. We built the machine that does — and it settles every claim against real Polymarket and Kalshi outcomes.' Set the frame immediately: pre-launch by choice, pre-seed; everything in this deck is built, tested, and demo-able today via investor access keys — no signup required. Do not say 'live': the product is launch-ready and wired into the billing gateway, but not yet publicly listed.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has three layers. (1) Accountability: public predictions are free options — no one settles them. (2) Analytics: every existing tool analyzes the market itself (prices, wallets, order flow) or aggregates unscored sentiment; none connect authored claims to settled outcomes. (3) Research: every mature asset class grew a research layer — equities got Morningstar, Zacks, Finviz; event markets have none, despite the capital asymmetry ($3.7B into platforms in one year vs ~$91M across the top-20 tooling startups). Prior art proves demand: PunditTracker tried pundit accountability in 2012 and died — pre-LLM (manual curation didn't scale) and pre-liquid-markets (no settlement layer). Both blockers are now gone; that's the Why Now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one concrete example end-to-end. The two magic ingredients: extraction (regex first for free, Claude structured-output only on misses — turns messy natural language into falsifiable, deadline-bearing claims) and settlement (real-money market resolutions are free, objective ground truth — no human graders). The output is two products in one: a signal feed (which claims are mispriced right now) and a credibility ledger (who has receipts). The kicker: the system grades itself — every qualifying signal opens a $1 paper trade, force-settled at market resolution, so our own track record is falsifiable too. Competitors ship vibes; we ship receipts.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points investors should retain. (1) LLM economics: three-tier funnel (regex → Claude → keyword), sha256 content-hash caching, prompt caching at ~0.1x cost on cached reads, model env-swappable to Haiku for ~5x lower cost — marginal LLM cost per post trends toward zero. Label the 3-5x recall claim as an internal benchmark if asked. (2) Anti-gaming: accuracy stays locked until 10 qualifying predictions across 3 categories; predictions &lt;12h before close never count; category over-concentration triggers a dominance penalty — a new account cannot fake a track record. Brier calibration separates a well-calibrated 55% forecaster from an overconfident 95% blowhard; hit-rate is an amateur metric. (3) Matching precision: category gating plus candidate-name gating means 'Trump will win' can never match the Harris market. Diligence honesty: the X source is quota-capped ($100/mo Basic tier, 10K tweets/mo) — scaling coverage scales cost linearly; it's in the use-of-funds.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forces converged in the last 12 months. Volume: Bernstein projects $240B for 2026 and $1T/yr by 2030 — flag as one analyst's projection, not consensus. Regulation: election contracts legalized Oct 2024; Third Circuit held CFTC jurisdiction over sports contracts likely exclusive (Apr 2026); first federal rulebook now in comment period — note honestly that the Third Circuit ruling is a preliminary-injunction decision, several states are fighting back, and a Supreme Court showdown is expected. Capital asymmetry: ICE committed ~$2B to Polymarket (ICE IR / Fortune) and Kalshi raised $1B at $22B (TechCrunch) — while the top-20 analytics startups raised ~$91M combined: a picks-and-shovels gap at maximum volume growth. Distribution: Robinhood traded 12B+ event contracts in 2025 (Robinhood newsroom); Polymarket reportedly hit $1B annualized revenue ~6 weeks after US relaunch (Crypto Briefing — verify before quoting). Validation: ICE launched 'Polymarket Signals and Sentiment' (Feb 2026) selling probability feeds to institutions — and left the retail/prosumer tier unserved. That's our wedge, and the window is before venues build it in-house.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demo slide — ideally switch to the live product here; investor access keys grant instant, scoped, no-signup access. Surfaces to hit: the Performance tab where our own paper-traded P&amp;L lives in public view; the backtest screen where any skeptic can rerun our signal history under their own EV/credibility thresholds; liquidity endpoints that walk the actual Polymarket order book; cross-venue arbitrage with deep links to both venues; and user calibration mode, where users build their own Brier-scored record — which doubles as labeled training data for the extractor. Framing discipline: the product is built and gateway-wired but flagged hidden in the storefront config — say 'launch-ready', never 'live'.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moat is time-based, not feature-based — features can be copied; history cannot. Four tables accumulate every five minutes: every prediction with hours-remaining-at-prediction and resolution outcome; a per-source credibility time series written each recompute cycle; ground-truth resolved markets; and the market price at claim time. Because the inputs are ephemeral, the joint dataset cannot be rebuilt retroactively. The derived asset — a live, methodology-consistent credibility score per social handle — is the defensible product: think FICO or Nielsen, where methodology plus longitudinal data is the business. Anti-gaming rules mean the scores themselves are hard to spoof. This is also the launch-urgency argument: every month pre-launch is unrecoverable data, which is why the raise funds switching the machine on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Strategic story: truth.narve.ai is the wedge; the gateway is the leverage. Auth, billing, gating, proxying, live-refresh, and admin ops were built once and amortize across every product. The lifecycle mechanics are proven, not theoretical: stocks+crypto sell as one Market Edge subscription via access-alias; the retired disasters and climate dashboards were folded into weather with 301 redirects while legacy subscribers kept paid access; underperformers get parked, not deleted. Storefront discipline matters: the store is curated to three live products rather than shipping everything — the same judgment that will govern unparking the bench. This converts one pre-seed bet into a portfolio machine: if the wedge wins, the rail multiplies it, and the marginal cost of testing product #16 is near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Vertical-SaaS data products on one shared rail: prosumer subscriptions now, institutional licensing later. Pricing is comparable to retail research tools (Finviz Elite ~$299.50/yr, Stock Rover ~$249/yr — verify list prices before printing). Pro tier differentiates on history depth — 6 months of source tracking, 'where the real credibility signal emerges' — pricing justified by the moat itself. The public API (signals, source scores, backtests, arbitrage) already ships with hashed key management — that's the institutional on-ramp, and ICE's Feb 2026 launch proves institutions pay for prediction-market intelligence. Pre-launch honesty: STRIPE_SETUP.md states plainly that no one can subscribe today because production Stripe env vars aren't set, and calls wiring them 'the fastest revenue unlock' (~30 minutes) — checkout, webhooks, and live-format price IDs for seven products already exist. Housekeeping before any investor demo: normalize the bundle brand ('betyc' → 'narve.ai' in server.py) and commit to the coded $49/$149 bundle prices over the $99/$229 alternative in STRIPE_SETUP.md.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Methodology transparency wins trust here. TAM is the directly comparable third-party category: investment research platforms, framed against the $49.2B market-data spend pool that ICE has proven prediction-market data can tap. SAM is our derivation — say so out loud: 8–12M active event-contract traders by 2029–30 (Bernstein-consistent growth from today's ~2–3M) × serious-trader segment × blended ARPU, plus an institutional feed segment. SOM: 15–50K paying subscribers at ~$350–500/yr plus 3–10 institutional licenses at $50–250K — in line with what niche trading-analytics SaaS (Nansen, Glassnode, Finviz, TrendSpider) reached in comparable trader populations. If pressed on user counts, cite only Polymarket's 678K on-chain figure — Kalshi's 2M MAT is company-reported and third-party estimates conflict; on a slide, prefer 'hundreds of thousands to low millions of monthly traders'. Never present SAM/SOM as third-party figures; always label Bernstein as one analyst's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 the two hard questions. 'What about Verso?' — closest overlap: it maps anonymous headlines to contracts (impact estimation); we score authored claims and the people who made them, settled against outcomes — who is right, not what moves prices. (Verso specifics are thinly sourced from tool directories — verify against their own site before printing details; the rumored 'Paradigm' and 'Panther' terminals are unverified, omit them.) 'What if the venues build this?' — Kalshi is building a terminal and Polymarket acquired Dome (YC F25 data-API startup) — the biggest long-term threat and the strongest validation, and Dome is proof a seed-stage prediction-market data startup already achieved an exit. Our defenses: venue-neutrality (an exchange will never tell you the other venue has the better price — we compute EV against the best price on either) and the off-market social ledger, which sits outside any venue's data estate. Supporting trend: bots already dominate structural/speed arbitrage on Polymarket — durable edge must come from information, which is exactly what a credibility-weighted claims ledger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replaces the traction slide honestly — zero user or revenue numbers, deliberately; the traction is that one small team built the entire machine. Scope shipped: 15 dashboard SKUs, 2 headless trading bots, and a full auth/billing gateway, each documented; CI with linting and Docker build checks; Cloudflare Tunnel runbooks; a purpose-built investor-key system with scoping, expiry, and audit trails — offer keys in the room and let them try it before the meeting ends. The differentiating credibility asset: the financial-matrix-toolkit's 20 walk-forward, null-benchmarked, after-cost models include a deliberate 'honesty tier' of direction models built to show they fail the efficient-market floor, and its capstone backtest honestly reports no significant Sharpe edge. A founder who refuses to manufacture fake edges is exactly who you want scoring other people's predictions — the anti-hype methodology is the brand, and it underwrites the flagship's Brier and EV math. Known limitations we name before you ask: lexical (not semantic) matching, paper trades entered at midpoint without slippage, single-process SQLite — all documented in-repo, all in the use-of-funds.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Phases, not quarter-precise dates — pre-seed decks that promise dates invite the wrong diligence. Phase 1 is nearly mechanical because the machine exists: wire the Stripe env vars, unhide the truth SKU, start the public leaderboard. Launch-first logic: the ledger moat compounds with calendar time, so every month pre-launch is unrecoverable data. Growth is product-native: unauthenticated SVG credibility cards ('this account is 71% accurate across 40 settled markets — receipts attached') are the viral surface, and the public backtest endpoint lets skeptics verify us — verification is the marketing. Phase 2 spends against the named engineering gaps: X API quota costs scale linearly with coverage, Jaccard matching should become semantic, ledger entries should consume the slippage data the liquidity endpoint already measures. Phase 3 follows ICE's proof that institutions pay for prediction-market signals — /api/v1 with key management already exists, so licensing is packaging, not a rebuild. Bench dashboards unpark only behind demonstrated demand. Deliberately no subscriber or revenue projections: milestones are shippable artifacts, and the KPI to hold us to is ledger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Team: Julian Habbig (CEO, julian@habbig.com) and Sho Cakarel (CTO, sho@cakarel.com). [PLACEHOLDER: one sentence of background per founder — prior companies, domain credibility in markets or ML.] The ask is $50,000 pre-seed. Framing for a small round: this is not build-risk capital — the product, billing rail, tests, and deploy tooling already exist. $50K converts a launch-ready system into a live market position: it covers the X API quota (~$100/mo Basic tier scales with coverage), LLM extraction spend, hosting, and a focused launch push, while the credibility ledger starts compounding — the asset a later entrant cannot rebuild. The use-of-funds split on the slide (~40/35/25) is a draft; adjust to actual budget before sending. What the repo already evidences: execution breadth (every service documented, tested, deployable — including a 3,903-line risk/position-sizing build with Kelly sizing, Black-Scholes Greeks, and circuit breakers), operational maturity (CI, pre-deploy snapshots, production hardening flags, partner onboarding docs), and intellectual honesty as a working style (4-agent adversarial audit that caught a backtest off-by-one; Newey-West/Bonferroni statistical discipline). [PLACEHOLDER: raise amount and terms.] Framing for the close: this is not build-risk capital — product, billing rail, tests, and deploy tooling exist; capital converts a launch-ready system into a market position while the ledger moat compounds. Natural cost lines from the known risk register: X API spend (scales linearly with coverage), scraper resilience, semantic matching, per-tenant pipeline isolation, and launch GTM. Diligence items to have clean answers for: 'betyc' brand leftover, Stripe env vars unset in production, and README growth targets being goals, not traction. Then hand over the investor key and let the product finish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 spc="-80">
                <a:solidFill>
                  <a:srgbClr val="EBEBEF"/>
                </a:solidFill>
                <a:latin typeface="Inter"/>
              </a:rPr>
              <a:t>narve</a:t>
            </a:r>
            <a:r>
              <a:rPr sz="4600" b="1" i="0" spc="-80">
                <a:solidFill>
                  <a:srgbClr val="6366F1"/>
                </a:solidFill>
                <a:latin typeface="Inter"/>
              </a:rPr>
              <a:t>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2788920"/>
            <a:ext cx="8899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 spc="-20">
                <a:solidFill>
                  <a:srgbClr val="EBEBEF"/>
                </a:solidFill>
                <a:latin typeface="Inter"/>
              </a:rPr>
              <a:t>We find out who's actually right about the future — and trade on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77639"/>
            <a:ext cx="81683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8B8D98"/>
                </a:solidFill>
                <a:latin typeface="Inter"/>
              </a:rPr>
              <a:t>Prediction intelligence for Polymarket &amp; Kalshi — lead product: truth.narve.ai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8B8D98"/>
                </a:solidFill>
                <a:latin typeface="Inter"/>
              </a:rPr>
              <a:t>We extract public predictions, settle them against real markets, and price the edge.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1848" y="5074920"/>
            <a:ext cx="914400" cy="274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5303520"/>
            <a:ext cx="121916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EBEBEF"/>
                </a:solidFill>
                <a:latin typeface="Inter"/>
              </a:rPr>
              <a:t>Julian Habbig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· CEO · julian@habbig.com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     </a:t>
            </a:r>
            <a:r>
              <a:rPr sz="1200" b="1" i="0">
                <a:solidFill>
                  <a:srgbClr val="EBEBEF"/>
                </a:solidFill>
                <a:latin typeface="Inter"/>
              </a:rPr>
              <a:t>Sho Cakarel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· CTO · sho@cakarel.com</a:t>
            </a:r>
          </a:p>
          <a:p>
            <a:pPr algn="ctr"/>
            <a:r>
              <a:rPr sz="1100" b="0" i="0">
                <a:solidFill>
                  <a:srgbClr val="5C5E6A"/>
                </a:solidFill>
                <a:latin typeface="Inter"/>
              </a:rPr>
              <a:t>Pre-seed   · 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Nobody keeps score of who is 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6126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Zero accountability.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Politicians, pundits, and insiders publish market-moving predictions daily. Right gets amplified; wrong gets memory-holed.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Markets price outcomes, never people.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Prediction markets just hit ~$24B/month (Apr 2026 — Pew Research).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Sentiment tools count crowd volume.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A serially wrong loudmouth weighs the same as a proven forecaster.</a:t>
            </a:r>
          </a:p>
          <a:p>
            <a:pPr>
              <a:lnSpc>
                <a:spcPct val="125000"/>
              </a:lnSpc>
              <a:spcAft>
                <a:spcPts val="13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Execution without research.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$3.7B went into venues in 2025; ~$91M into tooling (Forbes / Seedtable).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011680"/>
            <a:ext cx="4160520" cy="141732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34656" y="2176272"/>
            <a:ext cx="37216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 i="0" spc="160">
                <a:solidFill>
                  <a:srgbClr val="5C5E6A"/>
                </a:solidFill>
                <a:latin typeface="Inter"/>
              </a:rPr>
              <a:t>EQUITIES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Execution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Schwab, Robinhood, IBKR</a:t>
            </a:r>
          </a:p>
          <a:p>
            <a:pPr>
              <a:lnSpc>
                <a:spcPct val="115000"/>
              </a:lnSpc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Research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Morningstar, Zacks, Finviz…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657600"/>
            <a:ext cx="4160520" cy="141732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3822192"/>
            <a:ext cx="372160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 i="0" spc="160">
                <a:solidFill>
                  <a:srgbClr val="5C5E6A"/>
                </a:solidFill>
                <a:latin typeface="Inter"/>
              </a:rPr>
              <a:t>EVENT MARKETS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059669"/>
                </a:solidFill>
                <a:latin typeface="Inter"/>
              </a:rPr>
              <a:t>✓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Execution   </a:t>
            </a:r>
            <a:r>
              <a:rPr sz="1150" b="0" i="0">
                <a:solidFill>
                  <a:srgbClr val="8B8D98"/>
                </a:solidFill>
                <a:latin typeface="Inter"/>
              </a:rPr>
              <a:t>Polymarket, Kalshi, Robinhood</a:t>
            </a:r>
          </a:p>
          <a:p>
            <a:pPr>
              <a:lnSpc>
                <a:spcPct val="115000"/>
              </a:lnSpc>
            </a:pPr>
            <a:r>
              <a:rPr sz="1250" b="1" i="0">
                <a:solidFill>
                  <a:srgbClr val="F43F5E"/>
                </a:solidFill>
                <a:latin typeface="Inter"/>
              </a:rPr>
              <a:t>✗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Research   </a:t>
            </a:r>
            <a:r>
              <a:rPr sz="1150" b="1" i="0">
                <a:solidFill>
                  <a:srgbClr val="F43F5E"/>
                </a:solidFill>
                <a:latin typeface="Inter"/>
              </a:rPr>
              <a:t>nobody.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We turn social media into a market-settled credibility ledger.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Extract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falsifiable predictions from X, TruthSocial, Reddit &amp; RSS every 5 minutes — two-stage regex + Claude pipeline.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Match &amp; price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each claim against live Polymarket/Kalshi markets — best-side EV (BUY YES vs BUY NO) at the live price.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Settle &amp; score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every claim at market resolution — Bayesian accuracy + Brier calibration: a forecaster FICO score per handle.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Self-audit: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$1 paper trade on every qualifying signal — the product ships with its own falsifiable track record.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" y="4562856"/>
            <a:ext cx="237744" cy="23774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Social post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"Fed cuts in September, book it." — @macro_anon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651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8547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4851" y="4562856"/>
            <a:ext cx="237744" cy="23774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851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Structured claim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entity: Fed · direction: cut · deadline: Sep FOMC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0398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294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7598" y="4562856"/>
            <a:ext cx="237744" cy="237744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8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Matched market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Kalshi 'Fed cut by Sept?' YES 38¢ → BUY YES · EV +0.14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3145" y="4992624"/>
            <a:ext cx="35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041" y="4434840"/>
            <a:ext cx="2471851" cy="13716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80345" y="4562856"/>
            <a:ext cx="237744" cy="23774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C0D1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5" y="4892040"/>
            <a:ext cx="217924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Settled + scored</a:t>
            </a:r>
          </a:p>
          <a:p>
            <a:pPr>
              <a:lnSpc>
                <a:spcPct val="112000"/>
              </a:lnSpc>
            </a:pPr>
            <a:r>
              <a:rPr sz="950" b="0" i="0">
                <a:solidFill>
                  <a:srgbClr val="8B8D98"/>
                </a:solidFill>
                <a:latin typeface="Inter"/>
              </a:rPr>
              <a:t>CORRECT · credibility ↑ · +$1.63 paper P&amp;L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80">
                <a:solidFill>
                  <a:srgbClr val="5C5E6A"/>
                </a:solidFill>
                <a:latin typeface="Inter"/>
              </a:rPr>
              <a:t>Claim  →  Market  →  Settled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An 11-stage pipeline closes the loop everyone else skips: claim → settlement.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Sync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5789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1821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6685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2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Scrape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1810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2706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3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Dedupe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7831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4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3852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9884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4748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5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9873" y="22494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15905" y="2057400"/>
            <a:ext cx="1589989" cy="65836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0769" y="2057400"/>
            <a:ext cx="1480261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6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Resolve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7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319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2923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8409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8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Signal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662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266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752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9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Paper-trade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005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609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095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10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Monitor + alert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3488" y="3163824"/>
            <a:ext cx="316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9520" y="2971800"/>
            <a:ext cx="1587398" cy="65836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4384" y="2971800"/>
            <a:ext cx="147767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366F1"/>
                </a:solidFill>
                <a:latin typeface="Inter"/>
              </a:rPr>
              <a:t>11  </a:t>
            </a:r>
            <a:r>
              <a:rPr sz="1050" b="1" i="0">
                <a:solidFill>
                  <a:srgbClr val="EBEBEF"/>
                </a:solidFill>
                <a:latin typeface="Inter"/>
              </a:rPr>
              <a:t>Backtest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2971800"/>
            <a:ext cx="1783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F43F5E"/>
                </a:solidFill>
                <a:latin typeface="Inter"/>
              </a:rPr>
              <a:t>↺  resolve → score:
</a:t>
            </a:r>
            <a:r>
              <a:rPr sz="1000" b="0" i="0">
                <a:solidFill>
                  <a:srgbClr val="8B8D98"/>
                </a:solidFill>
                <a:latin typeface="Inter"/>
              </a:rPr>
              <a:t>the accountability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690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Cost-engineered extraction.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Free regex first, Claude only on misses, cached by content hash — viral reposts cost $0. LLM stage catches ~3–5x more signal than regex alone (internal benchmark).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Credibility is earned, not asserted.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10-prediction / 3-category unlock, 12-hour anti-freeroll rule, 60-day recency decay, Bayesian smoothing.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Liquidity-honest EV.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Order-book walk shows slippage at $100 / $1k / $10k — the “this edge dies past $X” reality midpoint services hide.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The market ~5x'd in seven months; the intelligence layer barely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Monthly volume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&lt;$5B → ~$24B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Sep 2025 → Apr 2026 — Pew Research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7973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9141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First federal rulebook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CFTC NPRM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Prediction-market rules, Jun 2026 — Federal Register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973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0146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4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Capital asymmetry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$3.7B vs $91M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Venues vs tooling, 2025 — Forbes / Seedtable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6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72319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3487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LLM inference cost</a:t>
            </a:r>
          </a:p>
          <a:p>
            <a:pPr>
              <a:spcAft>
                <a:spcPts val="500"/>
              </a:spcAft>
            </a:pPr>
            <a:r>
              <a:rPr sz="2100" b="1" i="0" spc="-40">
                <a:solidFill>
                  <a:srgbClr val="EBEBEF"/>
                </a:solidFill>
                <a:latin typeface="Inter"/>
              </a:rPr>
              <a:t>−99.7%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Since 2023 — a16z “LLMflation”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2319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4340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700" b="0" i="0">
                <a:solidFill>
                  <a:srgbClr val="8B8D98"/>
                </a:solidFill>
                <a:latin typeface="Inter"/>
              </a:rPr>
              <a:t>This product was cost-prohibitive in 2023. Today the marginal LLM cost per post trends toward zero — and the venues just got their first federal rulebook.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5C5E6A"/>
                </a:solidFill>
                <a:latin typeface="Inter"/>
              </a:rPr>
              <a:t>Prior art proves demand: PunditTracker tried accountability in 2012 — pre-LLM, pre-liquid-markets. Both blockers are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truth.narve.ai is built, tested, and demo-ready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19456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Signal feed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BUY YES / BUY NO calls ranked by best-side EV, source credibility attached, nine distinct risk flags.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1284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219456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Source leaderboard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Brier-calibrated credibility per handle, 30-point trend history, public SVG share cards — receipts, not vibes.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93192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1330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11480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Backtest harness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Sharpe, max drawdown, per-category P&amp;L at tunable thresholds — the “would I trust this with real money?” screen.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931920"/>
            <a:ext cx="5349240" cy="16916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1330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4114800"/>
            <a:ext cx="48737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API, alerts &amp; arbitrage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8B8D98"/>
                </a:solidFill>
                <a:latin typeface="Inter"/>
              </a:rPr>
              <a:t>Public /api/v1 for quants and bots, per-user Telegram alerts, cross-venue Polymarket ↔ Kalshi arbitrage.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C5E6A"/>
                </a:solidFill>
                <a:latin typeface="Inter"/>
              </a:rPr>
              <a:t>Launch-ready and wired into the billing gateway — demo today via scoped investor access keys, no signup.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Every settled market deepens a dataset competitors can never backfill.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Unreconstructable history.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The timestamped joint record — (claim, market price at claim time, resolved outcome) — cannot be rebuilt later.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Ephemeral inputs.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Posts get deleted; pre-resolution prices vanish. A competitor starting in 2028 starts at zero.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Owned training data.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ExtractionCache: a growing corpus of Claude-labeled social posts — paid once, owned forever.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Free labeled data.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User calibration mode: users build their own track records; the extractor learns from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2011680"/>
            <a:ext cx="4206240" cy="35661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4665685"/>
            <a:ext cx="274320" cy="13491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28432" y="4479716"/>
            <a:ext cx="274320" cy="320884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1624" y="4267925"/>
            <a:ext cx="274320" cy="53267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14816" y="4037405"/>
            <a:ext cx="274320" cy="76319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08008" y="3791874"/>
            <a:ext cx="274320" cy="1008726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0" y="3533678"/>
            <a:ext cx="274320" cy="1266922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94392" y="3264451"/>
            <a:ext cx="274320" cy="1536149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87584" y="2985405"/>
            <a:ext cx="274320" cy="1815195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780776" y="2697480"/>
            <a:ext cx="274320" cy="2103120"/>
          </a:xfrm>
          <a:prstGeom prst="roundRect">
            <a:avLst>
              <a:gd name="adj" fmla="val 18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4791456"/>
            <a:ext cx="3429000" cy="18288"/>
          </a:xfrm>
          <a:prstGeom prst="rect">
            <a:avLst/>
          </a:prstGeom>
          <a:solidFill>
            <a:srgbClr val="5C5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224028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6366F1"/>
                </a:solidFill>
                <a:latin typeface="Inter"/>
              </a:rPr>
              <a:t>●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our ledger — compounds every 5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910328"/>
            <a:ext cx="3474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5C5E6A"/>
                </a:solidFill>
                <a:latin typeface="Inter"/>
              </a:rPr>
              <a:t>● </a:t>
            </a:r>
            <a:r>
              <a:rPr sz="1100" b="0" i="0">
                <a:solidFill>
                  <a:srgbClr val="5C5E6A"/>
                </a:solidFill>
                <a:latin typeface="Inter"/>
              </a:rPr>
              <a:t>competitor starting 2028 — zero history, forever behind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PLATFORM &amp;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One gateway, 15 dashboard SKUs: a new product ships as a config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56235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One rail.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Single SSO + Stripe: one cookie across all subdomains, per-request subscription gating.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Curated storefront.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3 live products today; ~10 built-and-parked dashboards as pre-built optionality.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Lifecycle ops proven.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Merge, bundle, park, revive via config flags — legacy subscriber access preserved.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Non-storefront IP.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Two headless Polymarket trading bots.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8366760" y="2157984"/>
            <a:ext cx="822960" cy="1554480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366760" y="2779776"/>
            <a:ext cx="822960" cy="932688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366760" y="3401568"/>
            <a:ext cx="822960" cy="310896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66760" y="3712464.0"/>
            <a:ext cx="822960" cy="310896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66760" y="3712464.0"/>
            <a:ext cx="822960" cy="932688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66760" y="3712464.0"/>
            <a:ext cx="822960" cy="1554480.0"/>
          </a:xfrm>
          <a:prstGeom prst="line">
            <a:avLst/>
          </a:prstGeom>
          <a:ln w="12700">
            <a:solidFill>
              <a:srgbClr val="2425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89720" y="1920240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54312" y="1920240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Weather  $7.99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2542032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2542032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Midterm  $14.99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3163824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4312" y="3163824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6366F1"/>
                </a:solidFill>
                <a:latin typeface="Inter"/>
              </a:rPr>
              <a:t>LIVE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Market Edge  $9.99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785616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785616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F43F5E"/>
                </a:solidFill>
                <a:latin typeface="Inter"/>
              </a:rPr>
              <a:t>NEXT   </a:t>
            </a:r>
            <a:r>
              <a:rPr sz="1000" b="1" i="0">
                <a:solidFill>
                  <a:srgbClr val="EBEBEF"/>
                </a:solidFill>
                <a:latin typeface="Inter"/>
              </a:rPr>
              <a:t>truth.narve.ai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4407408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4407408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5C5E6A"/>
                </a:solidFill>
                <a:latin typeface="Inter"/>
              </a:rPr>
              <a:t>PARKED   </a:t>
            </a:r>
            <a:r>
              <a:rPr sz="1000" b="0" i="0">
                <a:solidFill>
                  <a:srgbClr val="5C5E6A"/>
                </a:solidFill>
                <a:latin typeface="Inter"/>
              </a:rPr>
              <a:t>sports · whale · traders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5029200"/>
            <a:ext cx="2331720" cy="475488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54312" y="5029200"/>
            <a:ext cx="2057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80">
                <a:solidFill>
                  <a:srgbClr val="5C5E6A"/>
                </a:solidFill>
                <a:latin typeface="Inter"/>
              </a:rPr>
              <a:t>PARKED   </a:t>
            </a:r>
            <a:r>
              <a:rPr sz="1000" b="0" i="0">
                <a:solidFill>
                  <a:srgbClr val="5C5E6A"/>
                </a:solidFill>
                <a:latin typeface="Inter"/>
              </a:rPr>
              <a:t>world · religion · +4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232404"/>
            <a:ext cx="1828800" cy="96012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3232404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BEBEF"/>
                </a:solidFill>
                <a:latin typeface="Inter"/>
              </a:rPr>
              <a:t>gateway
</a:t>
            </a:r>
            <a:r>
              <a:rPr sz="950" b="0" i="0">
                <a:solidFill>
                  <a:srgbClr val="8B8D98"/>
                </a:solidFill>
                <a:latin typeface="Inter"/>
              </a:rPr>
              <a:t>SSO · Stripe · proxy · fleet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8978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5C5E6A"/>
                </a:solidFill>
                <a:latin typeface="Inter"/>
              </a:rPr>
              <a:t>New SKU = config entry + port + DNS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09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Pick-and-mix subscriptions, $5.99–$19.99/mo — and revenue is a documented ~30-minute switch-flip.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PER-DASHBOARD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$5.99–$19.99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per month · annual ≈ 2 months free (gateway 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973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9141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6366F1"/>
                </a:solidFill>
                <a:latin typeface="Inter"/>
              </a:rPr>
              <a:t>TRUTH RESEARCH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$14.99 / mo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$149 / yr — SKU already wired into checkout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1314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ALL-ACCESS BUNDLES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$49 / $149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Trader / Pro per month — coded in checkout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319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3487" y="2304288"/>
            <a:ext cx="213123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INSTITUTIONAL FEEDS</a:t>
            </a:r>
          </a:p>
          <a:p>
            <a:pPr>
              <a:spcAft>
                <a:spcPts val="600"/>
              </a:spcAft>
            </a:pPr>
            <a:r>
              <a:rPr sz="2300" b="1" i="0" spc="-30">
                <a:solidFill>
                  <a:srgbClr val="EBEBEF"/>
                </a:solidFill>
                <a:latin typeface="Inter"/>
              </a:rPr>
              <a:t>custom</a:t>
            </a:r>
          </a:p>
          <a:p>
            <a:pPr>
              <a:lnSpc>
                <a:spcPct val="120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ICE already sells one (Polymarket Signals, Feb 2026 — ICE 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Revenue is a switch-flip, not a build.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Checkout, webhooks, and live-format price IDs for seven products exist; wiring production Stripe keys is a documented ~30-minute checklist.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Two engines.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Prosumer subscriptions now; institutional data feeds later — the ICE playbook, one tier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A $6.5B research-platform market — and prediction markets are its fastest-growing new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463040" y="2606954"/>
            <a:ext cx="3566160" cy="2924251"/>
          </a:xfrm>
          <a:prstGeom prst="ellipse">
            <a:avLst/>
          </a:prstGeom>
          <a:solidFill>
            <a:srgbClr val="312E81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3056839"/>
            <a:ext cx="2468880" cy="2024481"/>
          </a:xfrm>
          <a:prstGeom prst="ellipse">
            <a:avLst/>
          </a:prstGeom>
          <a:solidFill>
            <a:srgbClr val="4F46E5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32888" y="3484229"/>
            <a:ext cx="1426464" cy="1169700"/>
          </a:xfrm>
          <a:prstGeom prst="ellipse">
            <a:avLst/>
          </a:prstGeom>
          <a:solidFill>
            <a:srgbClr val="6366F1"/>
          </a:solidFill>
          <a:ln w="25400">
            <a:solidFill>
              <a:srgbClr val="0C0D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38928" y="2441448"/>
            <a:ext cx="128016" cy="128016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TAM  $6.5B → $13.25B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investment-research platforms, 2025→2030 — Research and Markets</a:t>
            </a:r>
          </a:p>
        </p:txBody>
      </p:sp>
      <p:sp>
        <p:nvSpPr>
          <p:cNvPr id="12" name="Oval 11"/>
          <p:cNvSpPr/>
          <p:nvPr/>
        </p:nvSpPr>
        <p:spPr>
          <a:xfrm>
            <a:off x="5138928" y="3355848"/>
            <a:ext cx="128016" cy="128016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331012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SAM  ~$0.9–2.5B / yr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by 2029–30 — company estimate from cited inputs</a:t>
            </a:r>
          </a:p>
        </p:txBody>
      </p:sp>
      <p:sp>
        <p:nvSpPr>
          <p:cNvPr id="14" name="Oval 13"/>
          <p:cNvSpPr/>
          <p:nvPr/>
        </p:nvSpPr>
        <p:spPr>
          <a:xfrm>
            <a:off x="5138928" y="4087368"/>
            <a:ext cx="128016" cy="128016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4041648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 b="1" i="0">
                <a:solidFill>
                  <a:srgbClr val="EBEBEF"/>
                </a:solidFill>
                <a:latin typeface="Inter"/>
              </a:rPr>
              <a:t>SOM  ~$5–25M ARR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B8D98"/>
                </a:solidFill>
                <a:latin typeface="Inter"/>
              </a:rPr>
              <a:t>within 3–4 years — company estimate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2148840"/>
            <a:ext cx="2880360" cy="329184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0536" y="2331720"/>
            <a:ext cx="244144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 i="0" spc="120">
                <a:solidFill>
                  <a:srgbClr val="5C5E6A"/>
                </a:solidFill>
                <a:latin typeface="Inter"/>
              </a:rPr>
              <a:t>THE BOTTOM-UP MATH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678K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monthly traders — Polymarket on-chain uniques, Apr 2026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× 20–35%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serious-trader segment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× $300–600/yr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ARPU (Finviz / Stock Rover comps)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+ </a:t>
            </a:r>
            <a:r>
              <a:rPr sz="1100" b="0" i="0">
                <a:solidFill>
                  <a:srgbClr val="8B8D98"/>
                </a:solidFill>
                <a:latin typeface="Inter"/>
              </a:rPr>
              <a:t>institutional feed licenses ($49.2B market-data spend — Burton-Taylor FY2025)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5C5E6A"/>
                </a:solidFill>
                <a:latin typeface="Inter"/>
              </a:rPr>
              <a:t>* SAM and SOM are company estimates derived from the cited inputs — not third-party figures.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Everyone analyzes the market or counts the crowd; nobody keeps score of the people.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53949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Terminals, wallet trackers, Dune: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only see money already inside the market — after the price moved.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LunarCrush, Santiment: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crowd volume and mood — never falsifiable, never settled.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Metaculus, FutureSearch: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rigorous, but score only their own or on-platform forecasts.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3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350" b="1" i="0">
                <a:solidFill>
                  <a:srgbClr val="EBEBEF"/>
                </a:solidFill>
                <a:latin typeface="Inter"/>
              </a:rPr>
              <a:t>narve.ai alone: </a:t>
            </a:r>
            <a:r>
              <a:rPr sz="1350" b="0" i="0">
                <a:solidFill>
                  <a:srgbClr val="8B8D98"/>
                </a:solidFill>
                <a:latin typeface="Inter"/>
              </a:rPr>
              <a:t>off-market authored claims → outcome-settled, EV-ranked signals across both venues.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783080"/>
            <a:ext cx="4983480" cy="43434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3954780"/>
            <a:ext cx="4709160" cy="9144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29700" y="1920240"/>
            <a:ext cx="9144" cy="4069080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2552" y="36987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20">
                <a:solidFill>
                  <a:srgbClr val="5C5E6A"/>
                </a:solidFill>
                <a:latin typeface="Inter"/>
              </a:rPr>
              <a:t>MARKET-NATIVE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8" y="36987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120">
                <a:solidFill>
                  <a:srgbClr val="5C5E6A"/>
                </a:solidFill>
                <a:latin typeface="Inter"/>
              </a:rPr>
              <a:t>OFF-MARKET HUMAN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6" y="189280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 spc="120">
                <a:solidFill>
                  <a:srgbClr val="5C5E6A"/>
                </a:solidFill>
                <a:latin typeface="Inter"/>
              </a:rPr>
              <a:t>SETTLED, EV-RANKED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6" y="5797296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 spc="120">
                <a:solidFill>
                  <a:srgbClr val="5C5E6A"/>
                </a:solidFill>
                <a:latin typeface="Inter"/>
              </a:rPr>
              <a:t>RAW / UNSCORED</a:t>
            </a:r>
          </a:p>
        </p:txBody>
      </p:sp>
      <p:sp>
        <p:nvSpPr>
          <p:cNvPr id="15" name="Oval 14"/>
          <p:cNvSpPr/>
          <p:nvPr/>
        </p:nvSpPr>
        <p:spPr>
          <a:xfrm>
            <a:off x="7179868" y="52669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3740" y="52369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Dune · venue APIs</a:t>
            </a:r>
          </a:p>
        </p:txBody>
      </p:sp>
      <p:sp>
        <p:nvSpPr>
          <p:cNvPr id="17" name="Oval 16"/>
          <p:cNvSpPr/>
          <p:nvPr/>
        </p:nvSpPr>
        <p:spPr>
          <a:xfrm>
            <a:off x="7098487" y="464972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2359" y="461972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Polymarket Analytics</a:t>
            </a:r>
          </a:p>
        </p:txBody>
      </p:sp>
      <p:sp>
        <p:nvSpPr>
          <p:cNvPr id="19" name="Oval 18"/>
          <p:cNvSpPr/>
          <p:nvPr/>
        </p:nvSpPr>
        <p:spPr>
          <a:xfrm>
            <a:off x="7586776" y="41696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0648" y="41396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Polysights</a:t>
            </a:r>
          </a:p>
        </p:txBody>
      </p:sp>
      <p:sp>
        <p:nvSpPr>
          <p:cNvPr id="21" name="Oval 20"/>
          <p:cNvSpPr/>
          <p:nvPr/>
        </p:nvSpPr>
        <p:spPr>
          <a:xfrm>
            <a:off x="7993684" y="34838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7556" y="34538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Verso</a:t>
            </a:r>
          </a:p>
        </p:txBody>
      </p:sp>
      <p:sp>
        <p:nvSpPr>
          <p:cNvPr id="23" name="Oval 22"/>
          <p:cNvSpPr/>
          <p:nvPr/>
        </p:nvSpPr>
        <p:spPr>
          <a:xfrm>
            <a:off x="9702698" y="52669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66570" y="52369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LunarCrush</a:t>
            </a:r>
          </a:p>
        </p:txBody>
      </p:sp>
      <p:sp>
        <p:nvSpPr>
          <p:cNvPr id="25" name="Oval 24"/>
          <p:cNvSpPr/>
          <p:nvPr/>
        </p:nvSpPr>
        <p:spPr>
          <a:xfrm>
            <a:off x="10190988" y="485546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54860" y="482546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Santiment</a:t>
            </a:r>
          </a:p>
        </p:txBody>
      </p:sp>
      <p:sp>
        <p:nvSpPr>
          <p:cNvPr id="27" name="Oval 26"/>
          <p:cNvSpPr/>
          <p:nvPr/>
        </p:nvSpPr>
        <p:spPr>
          <a:xfrm>
            <a:off x="8644737" y="286664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8609" y="283664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Metaculus</a:t>
            </a:r>
          </a:p>
        </p:txBody>
      </p:sp>
      <p:sp>
        <p:nvSpPr>
          <p:cNvPr id="29" name="Oval 28"/>
          <p:cNvSpPr/>
          <p:nvPr/>
        </p:nvSpPr>
        <p:spPr>
          <a:xfrm>
            <a:off x="9092336" y="3278124"/>
            <a:ext cx="118872" cy="118872"/>
          </a:xfrm>
          <a:prstGeom prst="ellipse">
            <a:avLst/>
          </a:prstGeom>
          <a:solidFill>
            <a:srgbClr val="5C5E6A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6208" y="3248124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0">
                <a:solidFill>
                  <a:srgbClr val="8B8D98"/>
                </a:solidFill>
                <a:latin typeface="Inter"/>
              </a:rPr>
              <a:t>FutureSearch</a:t>
            </a:r>
          </a:p>
        </p:txBody>
      </p:sp>
      <p:sp>
        <p:nvSpPr>
          <p:cNvPr id="31" name="Oval 30"/>
          <p:cNvSpPr/>
          <p:nvPr/>
        </p:nvSpPr>
        <p:spPr>
          <a:xfrm>
            <a:off x="10294772" y="2505456"/>
            <a:ext cx="155448" cy="155448"/>
          </a:xfrm>
          <a:prstGeom prst="ellipse">
            <a:avLst/>
          </a:prstGeom>
          <a:solidFill>
            <a:srgbClr val="6366F1"/>
          </a:solidFill>
          <a:ln w="25400">
            <a:solidFill>
              <a:srgbClr val="181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5220" y="2475456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EBEBEF"/>
                </a:solidFill>
                <a:latin typeface="Inter"/>
              </a:rPr>
              <a:t>narve.ai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EXECUTION IS THE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1" i="0" spc="-30">
                <a:solidFill>
                  <a:srgbClr val="EBEBEF"/>
                </a:solidFill>
                <a:latin typeface="Inter"/>
              </a:rPr>
              <a:t>Pre-launch by choice — the machine is built, tested, billable, and self-auditing.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Tests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211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test functions · 16 pytest files (repo-verified)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7973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9141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Dashboard SKUs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15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wired into one auth + billing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973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0146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4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Trading bots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headless Polymarket bots — non-storefront 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6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72319" y="2103120"/>
            <a:ext cx="2533573" cy="173736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3487" y="2267712"/>
            <a:ext cx="213123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50" b="1" i="0" spc="80">
                <a:solidFill>
                  <a:srgbClr val="5C5E6A"/>
                </a:solidFill>
                <a:latin typeface="Inter"/>
              </a:rPr>
              <a:t>Quant models</a:t>
            </a:r>
          </a:p>
          <a:p>
            <a:pPr>
              <a:spcAft>
                <a:spcPts val="500"/>
              </a:spcAft>
            </a:pPr>
            <a:r>
              <a:rPr sz="2600" b="1" i="0" spc="-40">
                <a:solidFill>
                  <a:srgbClr val="EBEBEF"/>
                </a:solidFill>
                <a:latin typeface="Inter"/>
              </a:rPr>
              <a:t>20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8B8D98"/>
                </a:solidFill>
                <a:latin typeface="Inter"/>
              </a:rPr>
              <a:t>walk-forward, null-benchmarked, after-cost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2319" y="2304288"/>
            <a:ext cx="27432" cy="2560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114800"/>
            <a:ext cx="10820095" cy="96012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14800"/>
            <a:ext cx="10180015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1" i="1">
                <a:solidFill>
                  <a:srgbClr val="EBEBEF"/>
                </a:solidFill>
                <a:latin typeface="Inter"/>
              </a:rPr>
              <a:t>“An edge smaller than costs is not an edge.”</a:t>
            </a:r>
            <a:r>
              <a:rPr sz="1200" b="0" i="0">
                <a:solidFill>
                  <a:srgbClr val="8B8D98"/>
                </a:solidFill>
                <a:latin typeface="Inter"/>
              </a:rPr>
              <a:t>   — the 20-model quant toolkit refuses to manufacture an edge, even in its own backtest.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21808"/>
            <a:ext cx="1082009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Gateway running: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SSO, Stripe checkout, WebSocket proxying, admin fleet ops across 15 SKUs. CI, Docker deploys, snapshot-before-deploy, macOS desktop build.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6366F1"/>
                </a:solidFill>
                <a:latin typeface="Inter"/>
              </a:rPr>
              <a:t>—  </a:t>
            </a:r>
            <a:r>
              <a:rPr sz="1250" b="1" i="0">
                <a:solidFill>
                  <a:srgbClr val="EBEBEF"/>
                </a:solidFill>
                <a:latin typeface="Inter"/>
              </a:rPr>
              <a:t>Self-proving by design: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every signal paper-traded and force-settled; public backtest harness (Sharpe, drawdown).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900" b="1" i="0" spc="-30">
                <a:solidFill>
                  <a:srgbClr val="EBEBEF"/>
                </a:solidFill>
                <a:latin typeface="Inter"/>
              </a:rPr>
              <a:t>Launch, compound the ledger in public, then sell the feed.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0820095" cy="9144"/>
          </a:xfrm>
          <a:prstGeom prst="rect">
            <a:avLst/>
          </a:prstGeom>
          <a:solidFill>
            <a:srgbClr val="242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002536"/>
            <a:ext cx="118872" cy="118872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6366F1"/>
                </a:solidFill>
                <a:latin typeface="Inter"/>
              </a:rPr>
              <a:t>PHASE 1 — LAUNCH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Switch the machine on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Flip Stripe live (documented ~30-min checklist)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Unhide truth.narve.ai in the storefront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Publish the public credibility leaderboard</a:t>
            </a:r>
          </a:p>
        </p:txBody>
      </p:sp>
      <p:sp>
        <p:nvSpPr>
          <p:cNvPr id="11" name="Oval 10"/>
          <p:cNvSpPr/>
          <p:nvPr/>
        </p:nvSpPr>
        <p:spPr>
          <a:xfrm>
            <a:off x="4383938" y="2002536"/>
            <a:ext cx="118872" cy="118872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3938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059669"/>
                </a:solidFill>
                <a:latin typeface="Inter"/>
              </a:rPr>
              <a:t>PHASE 2 — COMPOUND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Grow the ledger in public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SVG share cards + user calibration as growth loops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Widen sources; lift X API quota caps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Upgrade Jaccard matching to semantic</a:t>
            </a:r>
          </a:p>
        </p:txBody>
      </p:sp>
      <p:sp>
        <p:nvSpPr>
          <p:cNvPr id="14" name="Oval 13"/>
          <p:cNvSpPr/>
          <p:nvPr/>
        </p:nvSpPr>
        <p:spPr>
          <a:xfrm>
            <a:off x="8082076" y="2002536"/>
            <a:ext cx="118872" cy="118872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2076" y="2286000"/>
            <a:ext cx="3423818" cy="274320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2450592"/>
            <a:ext cx="3058058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 i="0" spc="140">
                <a:solidFill>
                  <a:srgbClr val="D97706"/>
                </a:solidFill>
                <a:latin typeface="Inter"/>
              </a:rPr>
              <a:t>PHASE 3 — MONETIZE DATA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EBEBEF"/>
                </a:solidFill>
                <a:latin typeface="Inter"/>
              </a:rPr>
              <a:t>Sell the feed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Quant API tiers on the existing /api/v1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Institutional feed pilot — the ICE playbook, one tier down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50" b="1" i="0">
                <a:solidFill>
                  <a:srgbClr val="5C5E6A"/>
                </a:solidFill>
                <a:latin typeface="Inter"/>
              </a:rPr>
              <a:t>—  </a:t>
            </a:r>
            <a:r>
              <a:rPr sz="1050" b="0" i="0">
                <a:solidFill>
                  <a:srgbClr val="8B8D98"/>
                </a:solidFill>
                <a:latin typeface="Inter"/>
              </a:rPr>
              <a:t>Unpark bench dashboards behind demonstrated demand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62356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5C5E6A"/>
                </a:solidFill>
                <a:latin typeface="Inter"/>
              </a:rPr>
              <a:t>North-star KPI until scale: ledger depth — settled, timestamped predictions per week. The moat grows every 5 minutes, regardless of phase.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220">
                <a:solidFill>
                  <a:srgbClr val="6366F1"/>
                </a:solidFill>
                <a:latin typeface="Inter"/>
              </a:rPr>
              <a:t>TEAM &amp;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7395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C5E6A"/>
                </a:solidFill>
                <a:latin typeface="Inter"/>
              </a:rPr>
              <a:t>narve.ai —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C5E6A"/>
                </a:solidFill>
                <a:latin typeface="Inter"/>
              </a:rP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600" b="1" i="0" spc="-30">
                <a:solidFill>
                  <a:srgbClr val="EBEBEF"/>
                </a:solidFill>
                <a:latin typeface="Inter"/>
              </a:rPr>
              <a:t>Habbig &amp; Cakarel built the entire stack — raising $50K to switch it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5349240" cy="3383280"/>
          </a:xfrm>
          <a:prstGeom prst="roundRect">
            <a:avLst>
              <a:gd name="adj" fmla="val 5500"/>
            </a:avLst>
          </a:prstGeom>
          <a:solidFill>
            <a:srgbClr val="18191E"/>
          </a:solidFill>
          <a:ln w="9525">
            <a:solidFill>
              <a:srgbClr val="242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800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 spc="140">
                <a:solidFill>
                  <a:srgbClr val="6366F1"/>
                </a:solidFill>
                <a:latin typeface="Inter"/>
              </a:rPr>
              <a:t>TEAM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Julian Habbig</a:t>
            </a:r>
            <a:r>
              <a:rPr sz="1250" b="1" i="0">
                <a:solidFill>
                  <a:srgbClr val="6366F1"/>
                </a:solidFill>
                <a:latin typeface="Inter"/>
              </a:rPr>
              <a:t>  ·  CEO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8B8D98"/>
                </a:solidFill>
                <a:latin typeface="Inter"/>
              </a:rPr>
              <a:t>julian@habbig.com · [PLACEHOLDER: background, prior roles, relevant wins]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BEBEF"/>
                </a:solidFill>
                <a:latin typeface="Inter"/>
              </a:rPr>
              <a:t>Sho Cakarel</a:t>
            </a:r>
            <a:r>
              <a:rPr sz="1250" b="1" i="0">
                <a:solidFill>
                  <a:srgbClr val="6366F1"/>
                </a:solidFill>
                <a:latin typeface="Inter"/>
              </a:rPr>
              <a:t>  ·  CTO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8B8D98"/>
                </a:solidFill>
                <a:latin typeface="Inter"/>
              </a:rPr>
              <a:t>sho@cakarel.com · [PLACEHOLDER: background, prior roles, relevant wins]</a:t>
            </a:r>
          </a:p>
          <a:p>
            <a:pPr>
              <a:lnSpc>
                <a:spcPct val="125000"/>
              </a:lnSpc>
            </a:pPr>
            <a:r>
              <a:rPr sz="1250" b="1" i="0">
                <a:solidFill>
                  <a:srgbClr val="EBEBEF"/>
                </a:solidFill>
                <a:latin typeface="Inter"/>
              </a:rPr>
              <a:t>The repo is the résumé: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15 dashboards, 2 trading bots, one auth/billing gateway, one 20-model quant toolkit — documented, tested, deployable.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242255" cy="3383280"/>
          </a:xfrm>
          <a:prstGeom prst="roundRect">
            <a:avLst>
              <a:gd name="adj" fmla="val 5500"/>
            </a:avLst>
          </a:prstGeom>
          <a:solidFill>
            <a:srgbClr val="1F2027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46936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 spc="140">
                <a:solidFill>
                  <a:srgbClr val="6366F1"/>
                </a:solidFill>
                <a:latin typeface="Inter"/>
              </a:rPr>
              <a:t>THE ASK</a:t>
            </a:r>
          </a:p>
          <a:p>
            <a:pPr>
              <a:spcAft>
                <a:spcPts val="1000"/>
              </a:spcAft>
            </a:pPr>
            <a:r>
              <a:rPr sz="3000" b="1" i="0">
                <a:solidFill>
                  <a:srgbClr val="EBEBEF"/>
                </a:solidFill>
                <a:latin typeface="Inter"/>
              </a:rPr>
              <a:t>$50,000</a:t>
            </a:r>
            <a:r>
              <a:rPr sz="1300" b="0" i="0">
                <a:solidFill>
                  <a:srgbClr val="8B8D98"/>
                </a:solidFill>
                <a:latin typeface="Inter"/>
              </a:rPr>
              <a:t>  pre-seed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Instrument: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SAFE — [PLACEHOLDER: cap/discount, target close date]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Use of funds: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~40% data &amp; API costs (X quota, LLM extraction) · ~35% engineering (semantic matching, multi-tenancy) · ~25% launch GTM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EBEBEF"/>
                </a:solidFill>
                <a:latin typeface="Inter"/>
              </a:rPr>
              <a:t>Buys: </a:t>
            </a:r>
            <a:r>
              <a:rPr sz="1250" b="0" i="0">
                <a:solidFill>
                  <a:srgbClr val="8B8D98"/>
                </a:solidFill>
                <a:latin typeface="Inter"/>
              </a:rPr>
              <a:t>public launch + [PLACEHOLDER: X] months of ledger compounding — the dataset no later entrant can rebuild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EBEBEF"/>
                </a:solidFill>
                <a:latin typeface="Inter"/>
              </a:rPr>
              <a:t>Live demo today: investor access keys — instant, scoped, no signup.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